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r>
              <a:rPr sz="2800" b="1">
                <a:solidFill>
                  <a:srgbClr val="0E7C99"/>
                </a:solidFill>
                <a:latin typeface="Arial"/>
              </a:rPr>
              <a:t>ZeroDrift — how our demo actually works</a:t>
            </a:r>
          </a:p>
        </p:txBody>
      </p:sp>
      <p:sp>
        <p:nvSpPr>
          <p:cNvPr id="3" name="TextBox 2"/>
          <p:cNvSpPr txBox="1"/>
          <p:nvPr/>
        </p:nvSpPr>
        <p:spPr>
          <a:xfrm>
            <a:off x="457200" y="1280160"/>
            <a:ext cx="11247120" cy="5486400"/>
          </a:xfrm>
          <a:prstGeom prst="rect">
            <a:avLst/>
          </a:prstGeom>
          <a:noFill/>
        </p:spPr>
        <p:txBody>
          <a:bodyPr wrap="square">
            <a:spAutoFit/>
          </a:bodyPr>
          <a:lstStyle/>
          <a:p>
            <a:pPr>
              <a:spcAft>
                <a:spcPts val="900"/>
              </a:spcAft>
            </a:pPr>
            <a:r>
              <a:rPr b="1" sz="1700">
                <a:solidFill>
                  <a:srgbClr val="0E7C99"/>
                </a:solidFill>
                <a:latin typeface="Arial"/>
              </a:rPr>
              <a:t>Internal team explainer. </a:t>
            </a:r>
            <a:r>
              <a:rPr sz="1700">
                <a:solidFill>
                  <a:srgbClr val="0B2545"/>
                </a:solidFill>
                <a:latin typeface="Arial"/>
              </a:rPr>
              <a:t>Not for submission — this is so every one of us can answer any judge question.</a:t>
            </a:r>
          </a:p>
          <a:p>
            <a:pPr>
              <a:spcAft>
                <a:spcPts val="900"/>
              </a:spcAft>
            </a:pPr>
            <a:r>
              <a:rPr b="1" sz="1700">
                <a:solidFill>
                  <a:srgbClr val="0E7C99"/>
                </a:solidFill>
                <a:latin typeface="Arial"/>
              </a:rPr>
              <a:t>The one-line pitch:  </a:t>
            </a:r>
            <a:r>
              <a:rPr sz="1700">
                <a:solidFill>
                  <a:srgbClr val="0B2545"/>
                </a:solidFill>
                <a:latin typeface="Arial"/>
              </a:rPr>
              <a:t>Laser links need two telescopes pointed at each other to micro-radian class accuracy. Our software finds the other terminal's beacon and steers a virtual camera to keep it centred — the full coarse-alignment stage, built and measured, no optical hardware.</a:t>
            </a:r>
          </a:p>
          <a:p>
            <a:pPr>
              <a:spcAft>
                <a:spcPts val="900"/>
              </a:spcAft>
            </a:pPr>
            <a:r>
              <a:rPr b="1" sz="1700">
                <a:solidFill>
                  <a:srgbClr val="0E7C99"/>
                </a:solidFill>
                <a:latin typeface="Arial"/>
              </a:rPr>
              <a:t>Golden rule on stage:  </a:t>
            </a:r>
            <a:r>
              <a:rPr sz="1700">
                <a:solidFill>
                  <a:srgbClr val="0B2545"/>
                </a:solidFill>
                <a:latin typeface="Arial"/>
              </a:rPr>
              <a:t>never claim a number you cannot regenerate live. Every figure in the pitch deck comes from a logged run in the repo.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r>
              <a:rPr sz="2800" b="1">
                <a:solidFill>
                  <a:srgbClr val="0B2545"/>
                </a:solidFill>
                <a:latin typeface="Arial"/>
              </a:rPr>
              <a:t>What is the beacon?</a:t>
            </a:r>
          </a:p>
        </p:txBody>
      </p:sp>
      <p:sp>
        <p:nvSpPr>
          <p:cNvPr id="3" name="TextBox 2"/>
          <p:cNvSpPr txBox="1"/>
          <p:nvPr/>
        </p:nvSpPr>
        <p:spPr>
          <a:xfrm>
            <a:off x="457200" y="1143000"/>
            <a:ext cx="11247120" cy="5623560"/>
          </a:xfrm>
          <a:prstGeom prst="rect">
            <a:avLst/>
          </a:prstGeom>
          <a:noFill/>
        </p:spPr>
        <p:txBody>
          <a:bodyPr wrap="square">
            <a:spAutoFit/>
          </a:bodyPr>
          <a:lstStyle/>
          <a:p>
            <a:pPr>
              <a:spcAft>
                <a:spcPts val="900"/>
              </a:spcAft>
            </a:pPr>
            <a:r>
              <a:rPr b="1" sz="1500">
                <a:solidFill>
                  <a:srgbClr val="0E7C99"/>
                </a:solidFill>
                <a:latin typeface="Arial"/>
              </a:rPr>
              <a:t>Physically: </a:t>
            </a:r>
            <a:r>
              <a:rPr sz="1500">
                <a:solidFill>
                  <a:srgbClr val="0B2545"/>
                </a:solidFill>
                <a:latin typeface="Arial"/>
              </a:rPr>
              <a:t>every FSOC terminal carries a small wide-beam LED/laser 'beacon' so the OTHER side can find it before the narrow data laser is aligned. It is a lighthouse for the handshake.</a:t>
            </a:r>
          </a:p>
          <a:p>
            <a:pPr>
              <a:spcAft>
                <a:spcPts val="900"/>
              </a:spcAft>
            </a:pPr>
            <a:r>
              <a:rPr b="1" sz="1500">
                <a:solidFill>
                  <a:srgbClr val="0E7C99"/>
                </a:solidFill>
                <a:latin typeface="Arial"/>
              </a:rPr>
              <a:t>In our simulator: </a:t>
            </a:r>
            <a:r>
              <a:rPr sz="1500">
                <a:solidFill>
                  <a:srgbClr val="0B2545"/>
                </a:solidFill>
                <a:latin typeface="Arial"/>
              </a:rPr>
              <a:t>a moving point light source with real physics — brightness falls with distance squared, photon (shot) noise, and it BLINKS at 4 Hz on purpose.</a:t>
            </a:r>
          </a:p>
          <a:p>
            <a:pPr>
              <a:spcAft>
                <a:spcPts val="900"/>
              </a:spcAft>
            </a:pPr>
            <a:r>
              <a:rPr b="1" sz="1500">
                <a:solidFill>
                  <a:srgbClr val="0E7C99"/>
                </a:solidFill>
                <a:latin typeface="Arial"/>
              </a:rPr>
              <a:t>Why blink? </a:t>
            </a:r>
            <a:r>
              <a:rPr sz="1500">
                <a:solidFill>
                  <a:srgbClr val="0B2545"/>
                </a:solidFill>
                <a:latin typeface="Arial"/>
              </a:rPr>
              <a:t>Stars and sun glints do not blink at 4 Hz. Our Goertzel filter measures the 4 Hz power in each candidate; a star scores ~0 and is rejected by a hard gate. That is how we never lock the wrong target (0 wrong locks in 64 runs).</a:t>
            </a:r>
          </a:p>
          <a:p>
            <a:pPr>
              <a:spcAft>
                <a:spcPts val="900"/>
              </a:spcAft>
            </a:pPr>
            <a:r>
              <a:rPr b="1" sz="1500">
                <a:solidFill>
                  <a:srgbClr val="0E7C99"/>
                </a:solidFill>
                <a:latin typeface="Arial"/>
              </a:rPr>
              <a:t>Why 4 Hz exactly? </a:t>
            </a:r>
            <a:r>
              <a:rPr sz="1500">
                <a:solidFill>
                  <a:srgbClr val="0B2545"/>
                </a:solidFill>
                <a:latin typeface="Arial"/>
              </a:rPr>
              <a:t>Camera runs 30 fps → Nyquist limit 15 Hz. Blink must be well below that or the modulation aliases away. 4 Hz gives ~7 samples per blink cycle.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r>
              <a:rPr sz="2800" b="1">
                <a:solidFill>
                  <a:srgbClr val="0B2545"/>
                </a:solidFill>
                <a:latin typeface="Arial"/>
              </a:rPr>
              <a:t>Where does the beacon COME FROM? (it is NOT an animation)</a:t>
            </a:r>
          </a:p>
        </p:txBody>
      </p:sp>
      <p:sp>
        <p:nvSpPr>
          <p:cNvPr id="3" name="TextBox 2"/>
          <p:cNvSpPr txBox="1"/>
          <p:nvPr/>
        </p:nvSpPr>
        <p:spPr>
          <a:xfrm>
            <a:off x="457200" y="1143000"/>
            <a:ext cx="11247120" cy="5623560"/>
          </a:xfrm>
          <a:prstGeom prst="rect">
            <a:avLst/>
          </a:prstGeom>
          <a:noFill/>
        </p:spPr>
        <p:txBody>
          <a:bodyPr wrap="square">
            <a:spAutoFit/>
          </a:bodyPr>
          <a:lstStyle/>
          <a:p>
            <a:pPr>
              <a:spcAft>
                <a:spcPts val="900"/>
              </a:spcAft>
            </a:pPr>
            <a:r>
              <a:rPr b="1" sz="1500">
                <a:solidFill>
                  <a:srgbClr val="0E7C99"/>
                </a:solidFill>
                <a:latin typeface="Arial"/>
              </a:rPr>
              <a:t>The pipeline each frame: </a:t>
            </a:r>
            <a:r>
              <a:rPr sz="1500">
                <a:solidFill>
                  <a:srgbClr val="0B2545"/>
                </a:solidFill>
                <a:latin typeface="Arial"/>
              </a:rPr>
              <a:t>real ISS orbit data (SGP4/TLE) → beacon's true direction in the sky → projected through a pin-hole camera model → photons on a 640×480 sensor → noise added (read noise, dark current, hot pixels, turbulence blur) → THAT image is all the tracker ever sees.</a:t>
            </a:r>
          </a:p>
          <a:p>
            <a:pPr>
              <a:spcAft>
                <a:spcPts val="900"/>
              </a:spcAft>
            </a:pPr>
            <a:r>
              <a:rPr b="1" sz="1500">
                <a:solidFill>
                  <a:srgbClr val="0E7C99"/>
                </a:solidFill>
                <a:latin typeface="Arial"/>
              </a:rPr>
              <a:t>Hidden ground truth: </a:t>
            </a:r>
            <a:r>
              <a:rPr sz="1500">
                <a:solidFill>
                  <a:srgbClr val="0B2545"/>
                </a:solidFill>
                <a:latin typeface="Arial"/>
              </a:rPr>
              <a:t>the simulator knows the beacon's true position; the tracker does NOT. Truth is used only afterwards, to score the tracker. Like an exam: the examiner has the answer key, the student does not.</a:t>
            </a:r>
          </a:p>
          <a:p>
            <a:pPr>
              <a:spcAft>
                <a:spcPts val="900"/>
              </a:spcAft>
            </a:pPr>
            <a:r>
              <a:rPr b="1" sz="1500">
                <a:solidFill>
                  <a:srgbClr val="0E7C99"/>
                </a:solidFill>
                <a:latin typeface="Arial"/>
              </a:rPr>
              <a:t>Judges can verify: </a:t>
            </a:r>
            <a:r>
              <a:rPr sz="1500">
                <a:solidFill>
                  <a:srgbClr val="0B2545"/>
                </a:solidFill>
                <a:latin typeface="Arial"/>
              </a:rPr>
              <a:t>the GUI has a 'show ground truth' toggle (green marker). We keep it OFF while tracking, then flip it ON to reveal the tracker was right. This is the moment that proves it is not staged.</a:t>
            </a:r>
          </a:p>
          <a:p>
            <a:pPr>
              <a:spcAft>
                <a:spcPts val="900"/>
              </a:spcAft>
            </a:pPr>
            <a:r>
              <a:rPr b="1" sz="1500">
                <a:solidFill>
                  <a:srgbClr val="0E7C99"/>
                </a:solidFill>
                <a:latin typeface="Arial"/>
              </a:rPr>
              <a:t>Same seed → same run: </a:t>
            </a:r>
            <a:r>
              <a:rPr sz="1500">
                <a:solidFill>
                  <a:srgbClr val="0B2545"/>
                </a:solidFill>
                <a:latin typeface="Arial"/>
              </a:rPr>
              <a:t>every random draw is seeded. Run it twice, get identical frames. That is why the campaign and the deck numbers are reproducible.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r>
              <a:rPr sz="2800" b="1">
                <a:solidFill>
                  <a:srgbClr val="0B2545"/>
                </a:solidFill>
                <a:latin typeface="Arial"/>
              </a:rPr>
              <a:t>Is the display 'just for show'?</a:t>
            </a:r>
          </a:p>
        </p:txBody>
      </p:sp>
      <p:sp>
        <p:nvSpPr>
          <p:cNvPr id="3" name="TextBox 2"/>
          <p:cNvSpPr txBox="1"/>
          <p:nvPr/>
        </p:nvSpPr>
        <p:spPr>
          <a:xfrm>
            <a:off x="457200" y="1143000"/>
            <a:ext cx="11247120" cy="5623560"/>
          </a:xfrm>
          <a:prstGeom prst="rect">
            <a:avLst/>
          </a:prstGeom>
          <a:noFill/>
        </p:spPr>
        <p:txBody>
          <a:bodyPr wrap="square">
            <a:spAutoFit/>
          </a:bodyPr>
          <a:lstStyle/>
          <a:p>
            <a:pPr>
              <a:spcAft>
                <a:spcPts val="900"/>
              </a:spcAft>
            </a:pPr>
            <a:r>
              <a:rPr b="1" sz="1500">
                <a:solidFill>
                  <a:srgbClr val="0E7C99"/>
                </a:solidFill>
                <a:latin typeface="Arial"/>
              </a:rPr>
              <a:t>No — the display is a window, not the machine. </a:t>
            </a:r>
            <a:r>
              <a:rPr sz="1500">
                <a:solidFill>
                  <a:srgbClr val="0B2545"/>
                </a:solidFill>
                <a:latin typeface="Arial"/>
              </a:rPr>
              <a:t>The tracker writes one telemetry record per frame (state, error, detections, timing). The GUI, the report and the website all just READ that record. Nothing on screen is typed in or animated by hand.</a:t>
            </a:r>
          </a:p>
          <a:p>
            <a:pPr>
              <a:spcAft>
                <a:spcPts val="900"/>
              </a:spcAft>
            </a:pPr>
            <a:r>
              <a:rPr b="1" sz="1500">
                <a:solidFill>
                  <a:srgbClr val="0E7C99"/>
                </a:solidFill>
                <a:latin typeface="Arial"/>
              </a:rPr>
              <a:t>Desktop app: </a:t>
            </a:r>
            <a:r>
              <a:rPr sz="1500">
                <a:solidFill>
                  <a:srgbClr val="0B2545"/>
                </a:solidFill>
                <a:latin typeface="Arial"/>
              </a:rPr>
              <a:t>runs the real engine live — you can inject turbulence, add decoys, change blink rate DURING a run and watch it fight and recover.</a:t>
            </a:r>
          </a:p>
          <a:p>
            <a:pPr>
              <a:spcAft>
                <a:spcPts val="900"/>
              </a:spcAft>
            </a:pPr>
            <a:r>
              <a:rPr b="1" sz="1500">
                <a:solidFill>
                  <a:srgbClr val="0E7C99"/>
                </a:solidFill>
                <a:latin typeface="Arial"/>
              </a:rPr>
              <a:t>Website (zerodrift-fsoc-pat.netlify.app): </a:t>
            </a:r>
            <a:r>
              <a:rPr sz="1500">
                <a:solidFill>
                  <a:srgbClr val="0B2545"/>
                </a:solidFill>
                <a:latin typeface="Arial"/>
              </a:rPr>
              <a:t>replays a LOGGED run of the same engine, frame by frame, from a JSON recording in the repo (docs/media/telemetry_run.json). Its banner says exactly that. It is for judges' phones; the app is for the stage.</a:t>
            </a:r>
          </a:p>
          <a:p>
            <a:pPr>
              <a:spcAft>
                <a:spcPts val="900"/>
              </a:spcAft>
            </a:pPr>
            <a:r>
              <a:rPr b="1" sz="1500">
                <a:solidFill>
                  <a:srgbClr val="0E7C99"/>
                </a:solidFill>
                <a:latin typeface="Arial"/>
              </a:rPr>
              <a:t>If a number on the site and the deck ever disagree, </a:t>
            </a:r>
            <a:r>
              <a:rPr sz="1500">
                <a:solidFill>
                  <a:srgbClr val="0B2545"/>
                </a:solidFill>
                <a:latin typeface="Arial"/>
              </a:rPr>
              <a:t>we lose credibility instantly — that is why both now read from the SAME recording.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r>
              <a:rPr sz="2800" b="1">
                <a:solidFill>
                  <a:srgbClr val="0B2545"/>
                </a:solidFill>
                <a:latin typeface="Arial"/>
              </a:rPr>
              <a:t>The five boxes (say it in 40 seconds)</a:t>
            </a:r>
          </a:p>
        </p:txBody>
      </p:sp>
      <p:sp>
        <p:nvSpPr>
          <p:cNvPr id="3" name="TextBox 2"/>
          <p:cNvSpPr txBox="1"/>
          <p:nvPr/>
        </p:nvSpPr>
        <p:spPr>
          <a:xfrm>
            <a:off x="457200" y="1143000"/>
            <a:ext cx="11247120" cy="5623560"/>
          </a:xfrm>
          <a:prstGeom prst="rect">
            <a:avLst/>
          </a:prstGeom>
          <a:noFill/>
        </p:spPr>
        <p:txBody>
          <a:bodyPr wrap="square">
            <a:spAutoFit/>
          </a:bodyPr>
          <a:lstStyle/>
          <a:p>
            <a:pPr>
              <a:spcAft>
                <a:spcPts val="900"/>
              </a:spcAft>
            </a:pPr>
            <a:r>
              <a:rPr b="1" sz="1500">
                <a:solidFill>
                  <a:srgbClr val="0E7C99"/>
                </a:solidFill>
                <a:latin typeface="Arial"/>
              </a:rPr>
              <a:t>VIRTUAL WORLD </a:t>
            </a:r>
            <a:r>
              <a:rPr sz="1500">
                <a:solidFill>
                  <a:srgbClr val="0B2545"/>
                </a:solidFill>
                <a:latin typeface="Arial"/>
              </a:rPr>
              <a:t>makes the sky: stars, clutter, decoys, turbulence, a beacon on a real orbit.</a:t>
            </a:r>
          </a:p>
          <a:p>
            <a:pPr>
              <a:spcAft>
                <a:spcPts val="900"/>
              </a:spcAft>
            </a:pPr>
            <a:r>
              <a:rPr b="1" sz="1500">
                <a:solidFill>
                  <a:srgbClr val="0E7C99"/>
                </a:solidFill>
                <a:latin typeface="Arial"/>
              </a:rPr>
              <a:t>VIRTUAL CAMERA </a:t>
            </a:r>
            <a:r>
              <a:rPr sz="1500">
                <a:solidFill>
                  <a:srgbClr val="0B2545"/>
                </a:solidFill>
                <a:latin typeface="Arial"/>
              </a:rPr>
              <a:t>turns it into 30 frames/s of noisy pixels through a pan-tilt mount with 40 ms command delay.</a:t>
            </a:r>
          </a:p>
          <a:p>
            <a:pPr>
              <a:spcAft>
                <a:spcPts val="900"/>
              </a:spcAft>
            </a:pPr>
            <a:r>
              <a:rPr b="1" sz="1500">
                <a:solidFill>
                  <a:srgbClr val="0E7C99"/>
                </a:solidFill>
                <a:latin typeface="Arial"/>
              </a:rPr>
              <a:t>PERCEPTION </a:t>
            </a:r>
            <a:r>
              <a:rPr sz="1500">
                <a:solidFill>
                  <a:srgbClr val="0B2545"/>
                </a:solidFill>
                <a:latin typeface="Arial"/>
              </a:rPr>
              <a:t>cleans each frame (top-hat filter), finds bright spot candidates (CFAR), locates them to 1/10th pixel.</a:t>
            </a:r>
          </a:p>
          <a:p>
            <a:pPr>
              <a:spcAft>
                <a:spcPts val="900"/>
              </a:spcAft>
            </a:pPr>
            <a:r>
              <a:rPr b="1" sz="1500">
                <a:solidFill>
                  <a:srgbClr val="0E7C99"/>
                </a:solidFill>
                <a:latin typeface="Arial"/>
              </a:rPr>
              <a:t>DECISION </a:t>
            </a:r>
            <a:r>
              <a:rPr sz="1500">
                <a:solidFill>
                  <a:srgbClr val="0B2545"/>
                </a:solidFill>
                <a:latin typeface="Arial"/>
              </a:rPr>
              <a:t>asks 'which one is the real beacon?' — blink gate + AI verifier — and tracks it with an IMM Kalman filter.</a:t>
            </a:r>
          </a:p>
          <a:p>
            <a:pPr>
              <a:spcAft>
                <a:spcPts val="900"/>
              </a:spcAft>
            </a:pPr>
            <a:r>
              <a:rPr b="1" sz="1500">
                <a:solidFill>
                  <a:srgbClr val="0E7C99"/>
                </a:solidFill>
                <a:latin typeface="Arial"/>
              </a:rPr>
              <a:t>CONTROL </a:t>
            </a:r>
            <a:r>
              <a:rPr sz="1500">
                <a:solidFill>
                  <a:srgbClr val="0B2545"/>
                </a:solidFill>
                <a:latin typeface="Arial"/>
              </a:rPr>
              <a:t>predicts 40 ms ahead (Smith predictor) and sends 30 pointing commands/s back to the mount. Loop closed.</a:t>
            </a:r>
          </a:p>
          <a:p>
            <a:pPr>
              <a:spcAft>
                <a:spcPts val="900"/>
              </a:spcAft>
            </a:pPr>
            <a:r>
              <a:rPr b="1" sz="1500">
                <a:solidFill>
                  <a:srgbClr val="0E7C99"/>
                </a:solidFill>
                <a:latin typeface="Arial"/>
              </a:rPr>
              <a:t>SEARCH→ACQUIRE→TRACK→COAST→REACQUIRE: </a:t>
            </a:r>
            <a:r>
              <a:rPr sz="1500">
                <a:solidFill>
                  <a:srgbClr val="0B2545"/>
                </a:solidFill>
                <a:latin typeface="Arial"/>
              </a:rPr>
              <a:t>the state machine. COAST = beacon blinked off, we keep pointing from prediction. That is why detection duty ~50% but lock ~98%.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r>
              <a:rPr sz="2800" b="1">
                <a:solidFill>
                  <a:srgbClr val="0B2545"/>
                </a:solidFill>
                <a:latin typeface="Arial"/>
              </a:rPr>
              <a:t>Numbers we quote — and their source (memorise this table)</a:t>
            </a:r>
          </a:p>
        </p:txBody>
      </p:sp>
      <p:sp>
        <p:nvSpPr>
          <p:cNvPr id="3" name="TextBox 2"/>
          <p:cNvSpPr txBox="1"/>
          <p:nvPr/>
        </p:nvSpPr>
        <p:spPr>
          <a:xfrm>
            <a:off x="457200" y="1143000"/>
            <a:ext cx="11247120" cy="5623560"/>
          </a:xfrm>
          <a:prstGeom prst="rect">
            <a:avLst/>
          </a:prstGeom>
          <a:noFill/>
        </p:spPr>
        <p:txBody>
          <a:bodyPr wrap="square">
            <a:spAutoFit/>
          </a:bodyPr>
          <a:lstStyle/>
          <a:p>
            <a:pPr>
              <a:spcAft>
                <a:spcPts val="900"/>
              </a:spcAft>
            </a:pPr>
            <a:r>
              <a:rPr b="1" sz="1500">
                <a:solidFill>
                  <a:srgbClr val="0E7C99"/>
                </a:solidFill>
                <a:latin typeface="Arial"/>
              </a:rPr>
              <a:t>1.27 s acquisition · 98.3% lock · 198 µrad median · 100% in-FOV: </a:t>
            </a:r>
            <a:r>
              <a:rPr sz="1500">
                <a:solidFill>
                  <a:srgbClr val="0B2545"/>
                </a:solidFill>
                <a:latin typeface="Arial"/>
              </a:rPr>
              <a:t>the recorded ISS-pass run — docs/media/telemetry_run.json (what the website replays and the slide-2 chart plots).</a:t>
            </a:r>
          </a:p>
          <a:p>
            <a:pPr>
              <a:spcAft>
                <a:spcPts val="900"/>
              </a:spcAft>
            </a:pPr>
            <a:r>
              <a:rPr b="1" sz="1500">
                <a:solidFill>
                  <a:srgbClr val="0E7C99"/>
                </a:solidFill>
                <a:latin typeface="Arial"/>
              </a:rPr>
              <a:t>0/64 wrong-target locks · worst case 4.0 s acq, 91.6% lock: </a:t>
            </a:r>
            <a:r>
              <a:rPr sz="1500">
                <a:solidFill>
                  <a:srgbClr val="0B2545"/>
                </a:solidFill>
                <a:latin typeface="Arial"/>
              </a:rPr>
              <a:t>64-run Monte-Carlo campaign — runs/mc-leo/summary.json.</a:t>
            </a:r>
          </a:p>
          <a:p>
            <a:pPr>
              <a:spcAft>
                <a:spcPts val="900"/>
              </a:spcAft>
            </a:pPr>
            <a:r>
              <a:rPr b="1" sz="1500">
                <a:solidFill>
                  <a:srgbClr val="0E7C99"/>
                </a:solidFill>
                <a:latin typeface="Arial"/>
              </a:rPr>
              <a:t>≈20 ms of the 33 ms frame budget: </a:t>
            </a:r>
            <a:r>
              <a:rPr sz="1500">
                <a:solidFill>
                  <a:srgbClr val="0B2545"/>
                </a:solidFill>
                <a:latin typeface="Arial"/>
              </a:rPr>
              <a:t>runs/iss_pass.report.json processing p50.</a:t>
            </a:r>
          </a:p>
          <a:p>
            <a:pPr>
              <a:spcAft>
                <a:spcPts val="900"/>
              </a:spcAft>
            </a:pPr>
            <a:r>
              <a:rPr b="1" sz="1500">
                <a:solidFill>
                  <a:srgbClr val="0E7C99"/>
                </a:solidFill>
                <a:latin typeface="Arial"/>
              </a:rPr>
              <a:t>99.3% vs 14.7% link availability: </a:t>
            </a:r>
            <a:r>
              <a:rPr sz="1500">
                <a:solidFill>
                  <a:srgbClr val="0B2545"/>
                </a:solidFill>
                <a:latin typeface="Arial"/>
              </a:rPr>
              <a:t>link-budget model, with vs without coarse alignment — src/fsoc_pat/linkbudget.py.</a:t>
            </a:r>
          </a:p>
          <a:p>
            <a:pPr>
              <a:spcAft>
                <a:spcPts val="900"/>
              </a:spcAft>
            </a:pPr>
            <a:r>
              <a:rPr b="1" sz="1500">
                <a:solidFill>
                  <a:srgbClr val="0E7C99"/>
                </a:solidFill>
                <a:latin typeface="Arial"/>
              </a:rPr>
              <a:t>73/73 tests · 5,000+ lines: </a:t>
            </a:r>
            <a:r>
              <a:rPr sz="1500">
                <a:solidFill>
                  <a:srgbClr val="0B2545"/>
                </a:solidFill>
                <a:latin typeface="Arial"/>
              </a:rPr>
              <a:t>pytest suite and wc -l, run them live if asked.</a:t>
            </a:r>
          </a:p>
          <a:p>
            <a:pPr>
              <a:spcAft>
                <a:spcPts val="900"/>
              </a:spcAft>
            </a:pPr>
            <a:r>
              <a:rPr b="1" sz="1500">
                <a:solidFill>
                  <a:srgbClr val="0E7C99"/>
                </a:solidFill>
                <a:latin typeface="Arial"/>
              </a:rPr>
              <a:t>AI verifier AUC 0.957 vs 0.900 classical: </a:t>
            </a:r>
            <a:r>
              <a:rPr sz="1500">
                <a:solidFill>
                  <a:srgbClr val="0B2545"/>
                </a:solidFill>
                <a:latin typeface="Arial"/>
              </a:rPr>
              <a:t>docs/technical_report.md — and note we benchmarked AI against the classical method, we did not just sprinkle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r>
              <a:rPr sz="2800" b="1">
                <a:solidFill>
                  <a:srgbClr val="0B2545"/>
                </a:solidFill>
                <a:latin typeface="Arial"/>
              </a:rPr>
              <a:t>Judge Q&amp;A — likely questions, one-line answers</a:t>
            </a:r>
          </a:p>
        </p:txBody>
      </p:sp>
      <p:sp>
        <p:nvSpPr>
          <p:cNvPr id="3" name="TextBox 2"/>
          <p:cNvSpPr txBox="1"/>
          <p:nvPr/>
        </p:nvSpPr>
        <p:spPr>
          <a:xfrm>
            <a:off x="457200" y="1143000"/>
            <a:ext cx="11247120" cy="5623560"/>
          </a:xfrm>
          <a:prstGeom prst="rect">
            <a:avLst/>
          </a:prstGeom>
          <a:noFill/>
        </p:spPr>
        <p:txBody>
          <a:bodyPr wrap="square">
            <a:spAutoFit/>
          </a:bodyPr>
          <a:lstStyle/>
          <a:p>
            <a:pPr>
              <a:spcAft>
                <a:spcPts val="900"/>
              </a:spcAft>
            </a:pPr>
            <a:r>
              <a:rPr b="1" sz="1400">
                <a:solidFill>
                  <a:srgbClr val="0E7C99"/>
                </a:solidFill>
                <a:latin typeface="Arial"/>
              </a:rPr>
              <a:t>What is a µrad? </a:t>
            </a:r>
            <a:r>
              <a:rPr sz="1400">
                <a:solidFill>
                  <a:srgbClr val="0B2545"/>
                </a:solidFill>
                <a:latin typeface="Arial"/>
              </a:rPr>
              <a:t>One micro-radian tilts the beam ~1 mm sideways per km of distance. Our 198 µrad median at 550 km class geometry keeps the beacon well inside the ±3° field.</a:t>
            </a:r>
          </a:p>
          <a:p>
            <a:pPr>
              <a:spcAft>
                <a:spcPts val="900"/>
              </a:spcAft>
            </a:pPr>
            <a:r>
              <a:rPr b="1" sz="1400">
                <a:solidFill>
                  <a:srgbClr val="0E7C99"/>
                </a:solidFill>
                <a:latin typeface="Arial"/>
              </a:rPr>
              <a:t>Why only coarse alignment? </a:t>
            </a:r>
            <a:r>
              <a:rPr sz="1400">
                <a:solidFill>
                  <a:srgbClr val="0B2545"/>
                </a:solidFill>
                <a:latin typeface="Arial"/>
              </a:rPr>
              <a:t>The PS asks for it: coarse gets the beacon into the field of a fast fine-steering mirror; the FSM (kHz) does the last microradians. Two-stage is how real terminals work.</a:t>
            </a:r>
          </a:p>
          <a:p>
            <a:pPr>
              <a:spcAft>
                <a:spcPts val="900"/>
              </a:spcAft>
            </a:pPr>
            <a:r>
              <a:rPr b="1" sz="1400">
                <a:solidFill>
                  <a:srgbClr val="0E7C99"/>
                </a:solidFill>
                <a:latin typeface="Arial"/>
              </a:rPr>
              <a:t>Why not just track the brightest pixel? </a:t>
            </a:r>
            <a:r>
              <a:rPr sz="1400">
                <a:solidFill>
                  <a:srgbClr val="0B2545"/>
                </a:solidFill>
                <a:latin typeface="Arial"/>
              </a:rPr>
              <a:t>Sun glints and decoys are brighter. Identity comes from the blink signature, not brightness.</a:t>
            </a:r>
          </a:p>
          <a:p>
            <a:pPr>
              <a:spcAft>
                <a:spcPts val="900"/>
              </a:spcAft>
            </a:pPr>
            <a:r>
              <a:rPr b="1" sz="1400">
                <a:solidFill>
                  <a:srgbClr val="0E7C99"/>
                </a:solidFill>
                <a:latin typeface="Arial"/>
              </a:rPr>
              <a:t>Where exactly is the AI? </a:t>
            </a:r>
            <a:r>
              <a:rPr sz="1400">
                <a:solidFill>
                  <a:srgbClr val="0B2545"/>
                </a:solidFill>
                <a:latin typeface="Arial"/>
              </a:rPr>
              <a:t>A 497-parameter neural verifier we trained from scratch (no dataset downloaded — we generate labelled data from our own simulator) that confirms a track is beacon-like. Gate stays classical; AI adds confidence.</a:t>
            </a:r>
          </a:p>
          <a:p>
            <a:pPr>
              <a:spcAft>
                <a:spcPts val="900"/>
              </a:spcAft>
            </a:pPr>
            <a:r>
              <a:rPr b="1" sz="1400">
                <a:solidFill>
                  <a:srgbClr val="0E7C99"/>
                </a:solidFill>
                <a:latin typeface="Arial"/>
              </a:rPr>
              <a:t>What about the 40 ms delay? </a:t>
            </a:r>
            <a:r>
              <a:rPr sz="1400">
                <a:solidFill>
                  <a:srgbClr val="0B2545"/>
                </a:solidFill>
                <a:latin typeface="Arial"/>
              </a:rPr>
              <a:t>A Smith predictor: an internal model of the mount runs 40 ms ahead, so commands aim where the target WILL be.</a:t>
            </a:r>
          </a:p>
          <a:p>
            <a:pPr>
              <a:spcAft>
                <a:spcPts val="900"/>
              </a:spcAft>
            </a:pPr>
            <a:r>
              <a:rPr b="1" sz="1400">
                <a:solidFill>
                  <a:srgbClr val="0E7C99"/>
                </a:solidFill>
                <a:latin typeface="Arial"/>
              </a:rPr>
              <a:t>Hardware? </a:t>
            </a:r>
            <a:r>
              <a:rPr sz="1400">
                <a:solidFill>
                  <a:srgbClr val="0B2545"/>
                </a:solidFill>
                <a:latin typeface="Arial"/>
              </a:rPr>
              <a:t>The problem statement explicitly wants algorithm development without optical hardware — that is the point of a virtual testbed. Everything runs on the judges' own laptop.</a:t>
            </a:r>
          </a:p>
          <a:p>
            <a:pPr>
              <a:spcAft>
                <a:spcPts val="900"/>
              </a:spcAft>
            </a:pPr>
            <a:r>
              <a:rPr b="1" sz="1400">
                <a:solidFill>
                  <a:srgbClr val="0E7C99"/>
                </a:solidFill>
                <a:latin typeface="Arial"/>
              </a:rPr>
              <a:t>Is the web demo live? </a:t>
            </a:r>
            <a:r>
              <a:rPr sz="1400">
                <a:solidFill>
                  <a:srgbClr val="0B2545"/>
                </a:solidFill>
                <a:latin typeface="Arial"/>
              </a:rPr>
              <a:t>It is an honest replay of a logged run of the real engine — and we will run the engine live right here, change the physics mid-run, and let you watch it recover.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none">
            <a:spAutoFit/>
          </a:bodyPr>
          <a:lstStyle/>
          <a:p>
            <a:r>
              <a:rPr sz="2800" b="1">
                <a:solidFill>
                  <a:srgbClr val="1F8A5B"/>
                </a:solidFill>
                <a:latin typeface="Arial"/>
              </a:rPr>
              <a:t>Stage roles &amp; the 60-second open</a:t>
            </a:r>
          </a:p>
        </p:txBody>
      </p:sp>
      <p:sp>
        <p:nvSpPr>
          <p:cNvPr id="3" name="TextBox 2"/>
          <p:cNvSpPr txBox="1"/>
          <p:nvPr/>
        </p:nvSpPr>
        <p:spPr>
          <a:xfrm>
            <a:off x="457200" y="1280160"/>
            <a:ext cx="11247120" cy="5486400"/>
          </a:xfrm>
          <a:prstGeom prst="rect">
            <a:avLst/>
          </a:prstGeom>
          <a:noFill/>
        </p:spPr>
        <p:txBody>
          <a:bodyPr wrap="square">
            <a:spAutoFit/>
          </a:bodyPr>
          <a:lstStyle/>
          <a:p>
            <a:pPr>
              <a:spcAft>
                <a:spcPts val="900"/>
              </a:spcAft>
            </a:pPr>
            <a:r>
              <a:rPr b="1" sz="1600">
                <a:solidFill>
                  <a:srgbClr val="0E7C99"/>
                </a:solidFill>
                <a:latin typeface="Arial"/>
              </a:rPr>
              <a:t>Driver (laptop): </a:t>
            </a:r>
            <a:r>
              <a:rPr sz="1600">
                <a:solidFill>
                  <a:srgbClr val="0B2545"/>
                </a:solidFill>
                <a:latin typeface="Arial"/>
              </a:rPr>
              <a:t>starts leo_pass_nominal, real-time ON, truth OFF. On cue: turbulence slider up, then truth ON.</a:t>
            </a:r>
          </a:p>
          <a:p>
            <a:pPr>
              <a:spcAft>
                <a:spcPts val="900"/>
              </a:spcAft>
            </a:pPr>
            <a:r>
              <a:rPr b="1" sz="1600">
                <a:solidFill>
                  <a:srgbClr val="0E7C99"/>
                </a:solidFill>
                <a:latin typeface="Arial"/>
              </a:rPr>
              <a:t>Narrator: </a:t>
            </a:r>
            <a:r>
              <a:rPr sz="1600">
                <a:solidFill>
                  <a:srgbClr val="0B2545"/>
                </a:solidFill>
                <a:latin typeface="Arial"/>
              </a:rPr>
              <a:t>the 40-second five-boxes story while the app acquires. Then: 'notice it never saw the answer key — now we reveal it.'</a:t>
            </a:r>
          </a:p>
          <a:p>
            <a:pPr>
              <a:spcAft>
                <a:spcPts val="900"/>
              </a:spcAft>
            </a:pPr>
            <a:r>
              <a:rPr b="1" sz="1600">
                <a:solidFill>
                  <a:srgbClr val="0E7C99"/>
                </a:solidFill>
                <a:latin typeface="Arial"/>
              </a:rPr>
              <a:t>Q&amp;A anchor 1 (physics/controls): </a:t>
            </a:r>
            <a:r>
              <a:rPr sz="1600">
                <a:solidFill>
                  <a:srgbClr val="0B2545"/>
                </a:solidFill>
                <a:latin typeface="Arial"/>
              </a:rPr>
              <a:t>beacon, blink, Smith predictor, µrad questions.</a:t>
            </a:r>
          </a:p>
          <a:p>
            <a:pPr>
              <a:spcAft>
                <a:spcPts val="900"/>
              </a:spcAft>
            </a:pPr>
            <a:r>
              <a:rPr b="1" sz="1600">
                <a:solidFill>
                  <a:srgbClr val="0E7C99"/>
                </a:solidFill>
                <a:latin typeface="Arial"/>
              </a:rPr>
              <a:t>Q&amp;A anchor 2 (AI/software): </a:t>
            </a:r>
            <a:r>
              <a:rPr sz="1600">
                <a:solidFill>
                  <a:srgbClr val="0B2545"/>
                </a:solidFill>
                <a:latin typeface="Arial"/>
              </a:rPr>
              <a:t>verifier NN, tests, reproducibility, packaging.</a:t>
            </a:r>
          </a:p>
          <a:p>
            <a:pPr>
              <a:spcAft>
                <a:spcPts val="900"/>
              </a:spcAft>
            </a:pPr>
            <a:r>
              <a:rPr b="1" sz="1600">
                <a:solidFill>
                  <a:srgbClr val="0E7C99"/>
                </a:solidFill>
                <a:latin typeface="Arial"/>
              </a:rPr>
              <a:t>Opening line: </a:t>
            </a:r>
            <a:r>
              <a:rPr sz="1600">
                <a:solidFill>
                  <a:srgbClr val="0B2545"/>
                </a:solidFill>
                <a:latin typeface="Arial"/>
              </a:rPr>
              <a:t>'Every number you will see is measured, and we will regenerate one for you live.' Then do it.</a:t>
            </a:r>
          </a:p>
          <a:p>
            <a:pPr>
              <a:spcAft>
                <a:spcPts val="900"/>
              </a:spcAft>
            </a:pPr>
            <a:r>
              <a:rPr b="1" sz="1600">
                <a:solidFill>
                  <a:srgbClr val="0E7C99"/>
                </a:solidFill>
                <a:latin typeface="Arial"/>
              </a:rPr>
              <a:t>Never say: </a:t>
            </a:r>
            <a:r>
              <a:rPr sz="1600">
                <a:solidFill>
                  <a:srgbClr val="0B2545"/>
                </a:solidFill>
                <a:latin typeface="Arial"/>
              </a:rPr>
              <a:t>'basically', 'obviously', 'it should work'. Say: 'measured', 'reproducible', 'watch'.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