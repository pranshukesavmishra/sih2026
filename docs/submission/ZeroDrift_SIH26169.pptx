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6" Type="http://schemas.openxmlformats.org/officeDocument/2006/relationships/hyperlink" Target="https://scholar.google.com/scholar?q=%22Optical+Communication+in+Space+Challenges+and+Mitigation+Techniques%22" TargetMode="External"/><Relationship Id="rId7" Type="http://schemas.openxmlformats.org/officeDocument/2006/relationships/hyperlink" Target="https://scholar.google.com/scholar?q=%22Design+and+Analysis+of+Modern+Tracking+Systems+Blackman+Popoli%22" TargetMode="External"/><Relationship Id="rId8" Type="http://schemas.openxmlformats.org/officeDocument/2006/relationships/hyperlink" Target="https://scholar.google.com/scholar?q=%22Estimation+with+Applications+to+Tracking+and+Navigation+Bar-Shalom%22" TargetMode="External"/><Relationship Id="rId9" Type="http://schemas.openxmlformats.org/officeDocument/2006/relationships/hyperlink" Target="https://scholar.google.com/scholar?q=%22Closer+Control+of+Loops+with+Dead+Time+Smith%22" TargetMode="External"/><Relationship Id="rId10" Type="http://schemas.openxmlformats.org/officeDocument/2006/relationships/hyperlink" Target="https://scholar.google.com/scholar?q=%22SGP4+Orbit+Determination+Vallado+Crawford%22" TargetMode="External"/><Relationship Id="rId11" Type="http://schemas.openxmlformats.org/officeDocument/2006/relationships/hyperlink" Target="https://scholar.google.com/scholar?q=%22Laser+Beam+Propagation+through+Random+Media+Andrews+Phillips%22" TargetMode="External"/><Relationship Id="rId12" Type="http://schemas.openxmlformats.org/officeDocument/2006/relationships/hyperlink" Target="https://github.com/pranshukesavmishra/SIH-202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7" name="Picture 15366" descr="gui_sh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8" name="TextBox 15367"/>
          <p:cNvSpPr txBox="1"/>
          <p:nvPr/>
        </p:nvSpPr>
        <p:spPr>
          <a:xfrm>
            <a:off x="690372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6903720" y="5257800"/>
            <a:ext cx="4892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Median pointing error </a:t>
            </a:r>
            <a:r>
              <a:rPr sz="1300" b="1" i="0">
                <a:solidFill>
                  <a:srgbClr val="0E7C99"/>
                </a:solidFill>
                <a:latin typeface="Arial"/>
              </a:rPr>
              <a:t>207 µrad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— beacon kept inside the field of view </a:t>
            </a:r>
            <a:r>
              <a:rPr sz="13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of the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84048" y="1645920"/>
            <a:ext cx="11430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B2545"/>
                </a:solidFill>
                <a:latin typeface="Arial"/>
              </a:rPr>
              <a:t>Stack: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Python 3.11 · NumPy · OpenCV · PySide6 + pyqtgraph GUI · SGP4 real orbits · from-scratch NumPy neural net · PyInstaller app · pytest (</a:t>
            </a:r>
            <a:r>
              <a:rPr sz="1250" b="1" i="0">
                <a:solidFill>
                  <a:srgbClr val="1F8A5B"/>
                </a:solidFill>
                <a:latin typeface="Arial"/>
              </a:rPr>
              <a:t>73 tests</a:t>
            </a:r>
            <a:r>
              <a:rPr sz="1250" b="0" i="0">
                <a:solidFill>
                  <a:srgbClr val="0B2545"/>
                </a:solidFill>
                <a:latin typeface="Arial"/>
              </a:rPr>
              <a:t>) · GitHub CI</a:t>
            </a:r>
          </a:p>
          <a:p>
            <a:r>
              <a:rPr sz="1100" b="0" i="1">
                <a:solidFill>
                  <a:srgbClr val="5A6472"/>
                </a:solidFill>
                <a:latin typeface="Arial"/>
              </a:rPr>
              <a:t>100% open source — zero licensing cost, runs on any laptop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sky · stars · clutter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2121408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2263139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top-hat + matched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filter + CFAR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4000500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142231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blink signature gate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AI verifier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5879592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021323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IMM Kalman filter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position + velocity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7758683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7900415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feed-forward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9637776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9779507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GIMBAL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slew limits · latency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encoder noise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4048" y="352958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closed loop at the camera’s 30 frames per second — real time on a normal laptop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84048" y="3895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84048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1709928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1865376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3191256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3346704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4672584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4828032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6153912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6309360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384048" y="471830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/>
            </a:r>
            <a:r>
              <a:rPr sz="1100" b="0" i="0">
                <a:solidFill>
                  <a:srgbClr val="0B2545"/>
                </a:solidFill>
                <a:latin typeface="Arial"/>
              </a:rPr>
              <a:t>Spiral search over the uncertainty cone → lock → coast through beacon blinks → automatic recovery. Verified: recovers the true beacon even when started 5° off-target among decoys.</a:t>
            </a:r>
          </a:p>
        </p:txBody>
      </p:sp>
      <p:pic>
        <p:nvPicPr>
          <p:cNvPr id="17437" name="Picture 17436" descr="vid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3895344"/>
            <a:ext cx="3931920" cy="188732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7438" name="TextBox 17437"/>
          <p:cNvSpPr txBox="1"/>
          <p:nvPr/>
        </p:nvSpPr>
        <p:spPr>
          <a:xfrm>
            <a:off x="7882127" y="5833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Working prototype — tracking a satellite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1"/>
              </a:rPr>
              <a:t>[link]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