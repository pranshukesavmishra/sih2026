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9326880" cy="2076450"/>
          </a:xfrm>
        </p:spPr>
        <p:txBody>
          <a:bodyPr/>
          <a:lstStyle/>
          <a:p>
            <a:r>
              <a:rPr lang="en-US" sz="34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34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Problem Statement ID –</a:t>
            </a:r>
            <a:r>
              <a:rPr sz="1500" b="1" i="0">
                <a:solidFill>
                  <a:srgbClr val="0E7C99"/>
                </a:solidFill>
                <a:latin typeface="Arial"/>
              </a:rPr>
              <a:t>  26169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Problem Statement Title –</a:t>
            </a:r>
            <a:r>
              <a:rPr sz="1500" b="0" i="0">
                <a:solidFill>
                  <a:srgbClr val="0E7C99"/>
                </a:solidFill>
                <a:latin typeface="Arial"/>
              </a:rPr>
              <a:t>  AI-Based Virtual Camera Tracking System for Coarse Alignment of Mobile FSOC Terminals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Theme –</a:t>
            </a:r>
            <a:r>
              <a:rPr sz="1500" b="0" i="0">
                <a:solidFill>
                  <a:srgbClr val="0E7C99"/>
                </a:solidFill>
                <a:latin typeface="Arial"/>
              </a:rPr>
              <a:t>  Smart Automation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PS Category –</a:t>
            </a:r>
            <a:r>
              <a:rPr sz="1500" b="0" i="0">
                <a:solidFill>
                  <a:srgbClr val="0E7C99"/>
                </a:solidFill>
                <a:latin typeface="Arial"/>
              </a:rPr>
              <a:t>  Software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Team ID –</a:t>
            </a:r>
            <a:r>
              <a:rPr sz="1500" b="0" i="0">
                <a:solidFill>
                  <a:srgbClr val="0E7C99"/>
                </a:solidFill>
                <a:latin typeface="Arial"/>
              </a:rPr>
              <a:t>  —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Team Name –</a:t>
            </a:r>
            <a:r>
              <a:rPr sz="1500" b="1" i="0">
                <a:solidFill>
                  <a:srgbClr val="0E7C99"/>
                </a:solidFill>
                <a:latin typeface="Arial"/>
              </a:rPr>
              <a:t>  ZeroDrift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1755648" y="914400"/>
            <a:ext cx="10058400" cy="7863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sz="1050" b="0" i="1">
                <a:solidFill>
                  <a:srgbClr val="5A6472"/>
                </a:solidFill>
                <a:latin typeface="Arial"/>
              </a:rP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1050" b="0" i="1">
                <a:solidFill>
                  <a:srgbClr val="5A6472"/>
                </a:solidFill>
                <a:latin typeface="Arial"/>
              </a:rPr>
              <a:t>Detailed explanation of the proposed solution</a:t>
            </a: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1050" b="0" i="1">
                <a:solidFill>
                  <a:srgbClr val="5A6472"/>
                </a:solidFill>
                <a:latin typeface="Arial"/>
              </a:rPr>
              <a:t>How it addresses the problem</a:t>
            </a: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1050" b="0" i="1">
                <a:solidFill>
                  <a:srgbClr val="5A6472"/>
                </a:solidFill>
                <a:latin typeface="Arial"/>
              </a:rPr>
              <a:t>Innovation and uniqueness of the solution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TextBox 15362"/>
          <p:cNvSpPr txBox="1"/>
          <p:nvPr/>
        </p:nvSpPr>
        <p:spPr>
          <a:xfrm>
            <a:off x="384048" y="1810512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E7C99"/>
                </a:solidFill>
                <a:latin typeface="Arial"/>
              </a:rPr>
              <a:t>The eyes and neck of a laser communication terminal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384048" y="2286000"/>
            <a:ext cx="63093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250" b="1" i="0">
                <a:solidFill>
                  <a:srgbClr val="0B2545"/>
                </a:solidFill>
                <a:latin typeface="Arial"/>
              </a:rPr>
              <a:t>Complete virtual testbed: 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physics-honest sky — turbulence (Greenwood-correlated), platform vibration, sensor noise, moving beacons on real LEO/UAV paths.</a:t>
            </a:r>
          </a:p>
          <a:p>
            <a:pPr>
              <a:spcAft>
                <a:spcPts val="700"/>
              </a:spcAft>
            </a:pPr>
            <a:r>
              <a:rPr sz="1250" b="1" i="0">
                <a:solidFill>
                  <a:srgbClr val="0B2545"/>
                </a:solidFill>
                <a:latin typeface="Arial"/>
              </a:rPr>
              <a:t>AI-assisted closed-loop tracker: 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detects the beacon, identifies it, estimates motion, and steers a virtual pan-tilt camera to hold it in the FOV.</a:t>
            </a:r>
          </a:p>
          <a:p>
            <a:pPr>
              <a:spcAft>
                <a:spcPts val="700"/>
              </a:spcAft>
            </a:pPr>
            <a:r>
              <a:rPr sz="1250" b="1" i="0">
                <a:solidFill>
                  <a:srgbClr val="0B2545"/>
                </a:solidFill>
                <a:latin typeface="Arial"/>
              </a:rPr>
              <a:t>Addresses the problem exactly: 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coarse-alignment algorithms developed and validated with zero optical hardware — ISRO's stated need.</a:t>
            </a:r>
          </a:p>
          <a:p>
            <a:pPr>
              <a:spcAft>
                <a:spcPts val="700"/>
              </a:spcAft>
            </a:pPr>
            <a:r>
              <a:rPr sz="1250" b="1" i="0">
                <a:solidFill>
                  <a:srgbClr val="0B2545"/>
                </a:solidFill>
                <a:latin typeface="Arial"/>
              </a:rPr>
              <a:t>Innovation: 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beacon identified by its blink signature (hard gate — stars score 0), IMM motion filter, latency-compensating Smith predictor, from-scratch neural track verifier.</a:t>
            </a:r>
          </a:p>
          <a:p>
            <a:pPr>
              <a:spcAft>
                <a:spcPts val="700"/>
              </a:spcAft>
            </a:pPr>
            <a:r>
              <a:rPr sz="1250" b="1" i="0">
                <a:solidFill>
                  <a:srgbClr val="0B2545"/>
                </a:solidFill>
                <a:latin typeface="Arial"/>
              </a:rPr>
              <a:t>Not a concept — already built: 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GUI console, standalone app, 73 automated tests, full performance reports.</a:t>
            </a:r>
          </a:p>
        </p:txBody>
      </p:sp>
      <p:pic>
        <p:nvPicPr>
          <p:cNvPr id="15365" name="Picture 15364" descr="gui_sh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1847088"/>
            <a:ext cx="4892040" cy="2921635"/>
          </a:xfrm>
          <a:prstGeom prst="rect">
            <a:avLst/>
          </a:prstGeom>
          <a:ln w="9525">
            <a:solidFill>
              <a:srgbClr val="5A6472"/>
            </a:solidFill>
          </a:ln>
        </p:spPr>
      </p:pic>
      <p:sp>
        <p:nvSpPr>
          <p:cNvPr id="15366" name="TextBox 15365"/>
          <p:cNvSpPr txBox="1"/>
          <p:nvPr/>
        </p:nvSpPr>
        <p:spPr>
          <a:xfrm>
            <a:off x="6903720" y="4846320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5A6472"/>
                </a:solidFill>
                <a:latin typeface="Arial"/>
              </a:rPr>
              <a:t>Live console — real screenshot of our working system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384048" y="5257800"/>
            <a:ext cx="2011680" cy="85953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1.1 s</a:t>
            </a:r>
          </a:p>
          <a:p>
            <a:pPr algn="ctr"/>
            <a:r>
              <a:rPr sz="950" b="0" i="0">
                <a:solidFill>
                  <a:srgbClr val="BFD7E4"/>
                </a:solidFill>
                <a:latin typeface="Arial"/>
              </a:rPr>
              <a:t>acquisition time</a:t>
            </a:r>
          </a:p>
        </p:txBody>
      </p:sp>
      <p:sp>
        <p:nvSpPr>
          <p:cNvPr id="15368" name="Rounded Rectangle 15367"/>
          <p:cNvSpPr/>
          <p:nvPr/>
        </p:nvSpPr>
        <p:spPr>
          <a:xfrm>
            <a:off x="2532888" y="5257800"/>
            <a:ext cx="2011680" cy="85953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98.8 %</a:t>
            </a:r>
          </a:p>
          <a:p>
            <a:pPr algn="ctr"/>
            <a:r>
              <a:rPr sz="950" b="0" i="0">
                <a:solidFill>
                  <a:srgbClr val="BFD7E4"/>
                </a:solidFill>
                <a:latin typeface="Arial"/>
              </a:rPr>
              <a:t>lock retention</a:t>
            </a:r>
          </a:p>
        </p:txBody>
      </p:sp>
      <p:sp>
        <p:nvSpPr>
          <p:cNvPr id="15369" name="Rounded Rectangle 15368"/>
          <p:cNvSpPr/>
          <p:nvPr/>
        </p:nvSpPr>
        <p:spPr>
          <a:xfrm>
            <a:off x="4681728" y="5257800"/>
            <a:ext cx="2011680" cy="85953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0 / 64</a:t>
            </a:r>
          </a:p>
          <a:p>
            <a:pPr algn="ctr"/>
            <a:r>
              <a:rPr sz="950" b="0" i="0">
                <a:solidFill>
                  <a:srgbClr val="BFD7E4"/>
                </a:solidFill>
                <a:latin typeface="Arial"/>
              </a:rPr>
              <a:t>wrong-target locks</a:t>
            </a:r>
          </a:p>
        </p:txBody>
      </p:sp>
      <p:sp>
        <p:nvSpPr>
          <p:cNvPr id="15370" name="TextBox 15369"/>
          <p:cNvSpPr txBox="1"/>
          <p:nvPr/>
        </p:nvSpPr>
        <p:spPr>
          <a:xfrm>
            <a:off x="6903720" y="5257800"/>
            <a:ext cx="4892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50" b="1" i="0">
                <a:solidFill>
                  <a:srgbClr val="0B2545"/>
                </a:solidFill>
                <a:latin typeface="Arial"/>
              </a:rPr>
              <a:t>Median pointing error 207 µrad </a:t>
            </a:r>
            <a:r>
              <a:rPr sz="1150" b="0" i="0">
                <a:solidFill>
                  <a:srgbClr val="0B2545"/>
                </a:solidFill>
                <a:latin typeface="Arial"/>
              </a:rPr>
              <a:t>— beacon kept inside the field of view 100% of the pass.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914400"/>
            <a:ext cx="10058400" cy="5669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1050" b="0" i="1">
                <a:solidFill>
                  <a:srgbClr val="5A6472"/>
                </a:solidFill>
                <a:latin typeface="Arial"/>
              </a:rPr>
              <a:t>Technologies to be used (e.g. programming languages, frameworks, hardware)</a:t>
            </a: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1050" b="0" i="1">
                <a:solidFill>
                  <a:srgbClr val="5A6472"/>
                </a:solidFill>
                <a:latin typeface="Arial"/>
              </a:rPr>
              <a:t>Methodology and process for implementation (Flow Charts/Images/ working prototype)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384048" y="1517904"/>
            <a:ext cx="11430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 i="0">
                <a:solidFill>
                  <a:srgbClr val="0B2545"/>
                </a:solidFill>
                <a:latin typeface="Arial"/>
              </a:rPr>
              <a:t>Stack:  </a:t>
            </a:r>
            <a:r>
              <a:rPr sz="1200" b="0" i="0">
                <a:solidFill>
                  <a:srgbClr val="0B2545"/>
                </a:solidFill>
                <a:latin typeface="Arial"/>
              </a:rPr>
              <a:t>Python 3.11 · NumPy · OpenCV · PySide6 + pyqtgraph GUI · SGP4 real orbits · from-scratch NumPy neural net · PyInstaller one-click app · pytest (73 tests) · GitHub CI. 100% open source — zero licensing cost.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84048" y="2395728"/>
            <a:ext cx="1755648" cy="1078992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VIRTUAL WORLD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sky · stars · clutter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turbulence · vibration</a:t>
            </a:r>
          </a:p>
        </p:txBody>
      </p:sp>
      <p:sp>
        <p:nvSpPr>
          <p:cNvPr id="17413" name="Right Arrow 17412"/>
          <p:cNvSpPr/>
          <p:nvPr/>
        </p:nvSpPr>
        <p:spPr>
          <a:xfrm>
            <a:off x="2121408" y="2852928"/>
            <a:ext cx="169164" cy="164592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Rounded Rectangle 17413"/>
          <p:cNvSpPr/>
          <p:nvPr/>
        </p:nvSpPr>
        <p:spPr>
          <a:xfrm>
            <a:off x="2263139" y="2395728"/>
            <a:ext cx="1755648" cy="1078992"/>
          </a:xfrm>
          <a:prstGeom prst="roundRect">
            <a:avLst>
              <a:gd name="adj" fmla="val 6000"/>
            </a:avLst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DETECT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top-hat + matched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filter + CFAR</a:t>
            </a:r>
          </a:p>
        </p:txBody>
      </p:sp>
      <p:sp>
        <p:nvSpPr>
          <p:cNvPr id="17415" name="Right Arrow 17414"/>
          <p:cNvSpPr/>
          <p:nvPr/>
        </p:nvSpPr>
        <p:spPr>
          <a:xfrm>
            <a:off x="4000500" y="2852928"/>
            <a:ext cx="169164" cy="164592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Rounded Rectangle 17415"/>
          <p:cNvSpPr/>
          <p:nvPr/>
        </p:nvSpPr>
        <p:spPr>
          <a:xfrm>
            <a:off x="4142231" y="2395728"/>
            <a:ext cx="1755648" cy="1078992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IDENTIFY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blink signature gate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+ AI verifier</a:t>
            </a:r>
          </a:p>
        </p:txBody>
      </p:sp>
      <p:sp>
        <p:nvSpPr>
          <p:cNvPr id="17417" name="Right Arrow 17416"/>
          <p:cNvSpPr/>
          <p:nvPr/>
        </p:nvSpPr>
        <p:spPr>
          <a:xfrm>
            <a:off x="5879592" y="2852928"/>
            <a:ext cx="169164" cy="164592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Rounded Rectangle 17417"/>
          <p:cNvSpPr/>
          <p:nvPr/>
        </p:nvSpPr>
        <p:spPr>
          <a:xfrm>
            <a:off x="6021323" y="2395728"/>
            <a:ext cx="1755648" cy="1078992"/>
          </a:xfrm>
          <a:prstGeom prst="roundRect">
            <a:avLst>
              <a:gd name="adj" fmla="val 6000"/>
            </a:avLst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ESTIMATE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IMM Kalman filter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position + velocity</a:t>
            </a:r>
          </a:p>
        </p:txBody>
      </p:sp>
      <p:sp>
        <p:nvSpPr>
          <p:cNvPr id="17419" name="Right Arrow 17418"/>
          <p:cNvSpPr/>
          <p:nvPr/>
        </p:nvSpPr>
        <p:spPr>
          <a:xfrm>
            <a:off x="7758683" y="2852928"/>
            <a:ext cx="169164" cy="164592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Rounded Rectangle 17419"/>
          <p:cNvSpPr/>
          <p:nvPr/>
        </p:nvSpPr>
        <p:spPr>
          <a:xfrm>
            <a:off x="7900415" y="2395728"/>
            <a:ext cx="1755648" cy="1078992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CONTROL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Smith predictor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+ feed-forward</a:t>
            </a:r>
          </a:p>
        </p:txBody>
      </p:sp>
      <p:sp>
        <p:nvSpPr>
          <p:cNvPr id="17421" name="Right Arrow 17420"/>
          <p:cNvSpPr/>
          <p:nvPr/>
        </p:nvSpPr>
        <p:spPr>
          <a:xfrm>
            <a:off x="9637776" y="2852928"/>
            <a:ext cx="169164" cy="164592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Rounded Rectangle 17421"/>
          <p:cNvSpPr/>
          <p:nvPr/>
        </p:nvSpPr>
        <p:spPr>
          <a:xfrm>
            <a:off x="9779507" y="2395728"/>
            <a:ext cx="1755648" cy="1078992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VIRTUAL GIMBAL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slew limits · latency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encoder noise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384048" y="3529584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5A6472"/>
                </a:solidFill>
                <a:latin typeface="Arial"/>
              </a:rPr>
              <a:t>closed loop — 30 frames per second, faster than real time on a normal laptop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384048" y="3895344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0B2545"/>
                </a:solidFill>
                <a:latin typeface="Arial"/>
              </a:rPr>
              <a:t>Acquisition state machine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384048" y="4187952"/>
            <a:ext cx="1325880" cy="457200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SEARCH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1865376" y="4187952"/>
            <a:ext cx="1325880" cy="457200"/>
          </a:xfrm>
          <a:prstGeom prst="roundRect">
            <a:avLst>
              <a:gd name="adj" fmla="val 6000"/>
            </a:avLst>
          </a:prstGeom>
          <a:solidFill>
            <a:srgbClr val="B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ACQUIRE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3346704" y="4187952"/>
            <a:ext cx="1325880" cy="457200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TRACK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4828032" y="4187952"/>
            <a:ext cx="1325880" cy="457200"/>
          </a:xfrm>
          <a:prstGeom prst="roundRect">
            <a:avLst>
              <a:gd name="adj" fmla="val 6000"/>
            </a:avLst>
          </a:prstGeom>
          <a:solidFill>
            <a:srgbClr val="B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COAST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6309360" y="4187952"/>
            <a:ext cx="1325880" cy="457200"/>
          </a:xfrm>
          <a:prstGeom prst="roundRect">
            <a:avLst>
              <a:gd name="adj" fmla="val 6000"/>
            </a:avLst>
          </a:prstGeom>
          <a:solidFill>
            <a:srgbClr val="9C2E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REACQUIRE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384048" y="4718304"/>
            <a:ext cx="7315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/>
            </a:r>
            <a:r>
              <a:rPr sz="1100" b="0" i="0">
                <a:solidFill>
                  <a:srgbClr val="0B2545"/>
                </a:solidFill>
                <a:latin typeface="Arial"/>
              </a:rPr>
              <a:t>Spiral search over the uncertainty cone → lock → coast through beacon blinks → automatic recovery. Verified: recovers the true beacon even when started 5° off-target among decoys.</a:t>
            </a:r>
          </a:p>
        </p:txBody>
      </p:sp>
      <p:pic>
        <p:nvPicPr>
          <p:cNvPr id="17431" name="Picture 17430" descr="vid_fr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7" y="3895344"/>
            <a:ext cx="3931920" cy="1887322"/>
          </a:xfrm>
          <a:prstGeom prst="rect">
            <a:avLst/>
          </a:prstGeom>
          <a:ln w="9525">
            <a:solidFill>
              <a:srgbClr val="5A6472"/>
            </a:solidFill>
          </a:ln>
        </p:spPr>
      </p:pic>
      <p:sp>
        <p:nvSpPr>
          <p:cNvPr id="17432" name="TextBox 17431"/>
          <p:cNvSpPr txBox="1"/>
          <p:nvPr/>
        </p:nvSpPr>
        <p:spPr>
          <a:xfrm>
            <a:off x="7882127" y="5833872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5A6472"/>
                </a:solidFill>
                <a:latin typeface="Arial"/>
              </a:rPr>
              <a:t>Working prototype — tracking a satellite pass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914400"/>
            <a:ext cx="10058400" cy="7863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1050" b="0" i="1">
                <a:solidFill>
                  <a:srgbClr val="5A6472"/>
                </a:solidFill>
                <a:latin typeface="Arial"/>
              </a:rPr>
              <a:t>Analysis of the feasibility of the idea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1050" b="0" i="1">
                <a:solidFill>
                  <a:srgbClr val="5A6472"/>
                </a:solidFill>
                <a:latin typeface="Arial"/>
              </a:rPr>
              <a:t>Potential challenges and risks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1050" b="0" i="1">
                <a:solidFill>
                  <a:srgbClr val="5A6472"/>
                </a:solidFill>
                <a:latin typeface="Arial"/>
              </a:rPr>
              <a:t>Strategies for overcoming these challenges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84048" y="1810512"/>
            <a:ext cx="3657600" cy="457200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FEASIBILITY — PROVEN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84048" y="2340864"/>
            <a:ext cx="3657600" cy="3017520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1F8A5B"/>
                </a:solidFill>
                <a:latin typeface="Arial"/>
              </a:rPr>
              <a:t>• </a:t>
            </a:r>
            <a:r>
              <a:rPr sz="1200" b="0" i="0">
                <a:solidFill>
                  <a:srgbClr val="0B2545"/>
                </a:solidFill>
                <a:latin typeface="Arial"/>
              </a:rPr>
              <a:t>Fully working today: 73/73 automated tests pass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1F8A5B"/>
                </a:solidFill>
                <a:latin typeface="Arial"/>
              </a:rPr>
              <a:t>• </a:t>
            </a:r>
            <a:r>
              <a:rPr sz="1200" b="0" i="0">
                <a:solidFill>
                  <a:srgbClr val="0B2545"/>
                </a:solidFill>
                <a:latin typeface="Arial"/>
              </a:rPr>
              <a:t>64-run randomised Monte-Carlo campaign: 100% acquisition, zero wrong locks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1F8A5B"/>
                </a:solidFill>
                <a:latin typeface="Arial"/>
              </a:rPr>
              <a:t>• </a:t>
            </a:r>
            <a:r>
              <a:rPr sz="1200" b="0" i="0">
                <a:solidFill>
                  <a:srgbClr val="0B2545"/>
                </a:solidFill>
                <a:latin typeface="Arial"/>
              </a:rPr>
              <a:t>Standalone Windows/Linux app builds in one click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1F8A5B"/>
                </a:solidFill>
                <a:latin typeface="Arial"/>
              </a:rPr>
              <a:t>• </a:t>
            </a:r>
            <a:r>
              <a:rPr sz="1200" b="0" i="0">
                <a:solidFill>
                  <a:srgbClr val="0B2545"/>
                </a:solidFill>
                <a:latin typeface="Arial"/>
              </a:rPr>
              <a:t>Runs faster than real time on a normal laptop — no GPU, no cloud, no dataset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242816" y="1810512"/>
            <a:ext cx="3657600" cy="457200"/>
          </a:xfrm>
          <a:prstGeom prst="roundRect">
            <a:avLst>
              <a:gd name="adj" fmla="val 6000"/>
            </a:avLst>
          </a:prstGeom>
          <a:solidFill>
            <a:srgbClr val="B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CHALLENGES &amp; RISKS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242816" y="2340864"/>
            <a:ext cx="3657600" cy="3017520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B06A00"/>
                </a:solidFill>
                <a:latin typeface="Arial"/>
              </a:rPr>
              <a:t>• </a:t>
            </a:r>
            <a:r>
              <a:rPr sz="1200" b="0" i="0">
                <a:solidFill>
                  <a:srgbClr val="0B2545"/>
                </a:solidFill>
                <a:latin typeface="Arial"/>
              </a:rPr>
              <a:t>Heavy turbulence dims and shakes the beacon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B06A00"/>
                </a:solidFill>
                <a:latin typeface="Arial"/>
              </a:rPr>
              <a:t>• </a:t>
            </a:r>
            <a:r>
              <a:rPr sz="1200" b="0" i="0">
                <a:solidFill>
                  <a:srgbClr val="0B2545"/>
                </a:solidFill>
                <a:latin typeface="Arial"/>
              </a:rPr>
              <a:t>Bright decoys / sun glints can mimic the beacon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B06A00"/>
                </a:solidFill>
                <a:latin typeface="Arial"/>
              </a:rPr>
              <a:t>• </a:t>
            </a:r>
            <a:r>
              <a:rPr sz="1200" b="0" i="0">
                <a:solidFill>
                  <a:srgbClr val="0B2545"/>
                </a:solidFill>
                <a:latin typeface="Arial"/>
              </a:rPr>
              <a:t>Mount latency destabilises fast tracking loops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B06A00"/>
                </a:solidFill>
                <a:latin typeface="Arial"/>
              </a:rPr>
              <a:t>• </a:t>
            </a:r>
            <a:r>
              <a:rPr sz="1200" b="0" i="0">
                <a:solidFill>
                  <a:srgbClr val="0B2545"/>
                </a:solidFill>
                <a:latin typeface="Arial"/>
              </a:rPr>
              <a:t>Sharp UAV manoeuvres break simple trackers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8101583" y="1810512"/>
            <a:ext cx="3657600" cy="457200"/>
          </a:xfrm>
          <a:prstGeom prst="roundRect">
            <a:avLst>
              <a:gd name="adj" fmla="val 6000"/>
            </a:avLst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OUR STRATEGIES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8101583" y="2340864"/>
            <a:ext cx="3657600" cy="3017520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7C99"/>
                </a:solidFill>
                <a:latin typeface="Arial"/>
              </a:rPr>
              <a:t>• </a:t>
            </a:r>
            <a:r>
              <a:rPr sz="1200" b="0" i="0">
                <a:solidFill>
                  <a:srgbClr val="0B2545"/>
                </a:solidFill>
                <a:latin typeface="Arial"/>
              </a:rPr>
              <a:t>Coast-through-fade + automatic re-acquisition spiral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7C99"/>
                </a:solidFill>
                <a:latin typeface="Arial"/>
              </a:rPr>
              <a:t>• </a:t>
            </a:r>
            <a:r>
              <a:rPr sz="1200" b="0" i="0">
                <a:solidFill>
                  <a:srgbClr val="0B2545"/>
                </a:solidFill>
                <a:latin typeface="Arial"/>
              </a:rPr>
              <a:t>Blink-signature hard gate: a star scores zero — fooled 0 times in 64 runs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7C99"/>
                </a:solidFill>
                <a:latin typeface="Arial"/>
              </a:rPr>
              <a:t>• </a:t>
            </a:r>
            <a:r>
              <a:rPr sz="1200" b="0" i="0">
                <a:solidFill>
                  <a:srgbClr val="0B2545"/>
                </a:solidFill>
                <a:latin typeface="Arial"/>
              </a:rPr>
              <a:t>Smith predictor cancels the measured 40 ms delay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E7C99"/>
                </a:solidFill>
                <a:latin typeface="Arial"/>
              </a:rPr>
              <a:t>• </a:t>
            </a:r>
            <a:r>
              <a:rPr sz="1200" b="0" i="0">
                <a:solidFill>
                  <a:srgbClr val="0B2545"/>
                </a:solidFill>
                <a:latin typeface="Arial"/>
              </a:rPr>
              <a:t>Dual-model IMM filter adapts to manoeuvres in ~0.3 s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384048" y="557784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50" b="1" i="0">
                <a:solidFill>
                  <a:srgbClr val="0B2545"/>
                </a:solidFill>
                <a:latin typeface="Arial"/>
              </a:rPr>
              <a:t>Worst case across all 64 randomised runs:  </a:t>
            </a:r>
            <a:r>
              <a:rPr sz="1150" b="0" i="0">
                <a:solidFill>
                  <a:srgbClr val="0B2545"/>
                </a:solidFill>
                <a:latin typeface="Arial"/>
              </a:rPr>
              <a:t>a 0.53×-dim beacon under 1.74× turbulence still acquired in 2.8 s and held 91.7% lock. Every number regenerates from one command — fully reproducible.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914400"/>
            <a:ext cx="10058400" cy="6035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1050" b="0" i="1">
                <a:solidFill>
                  <a:srgbClr val="5A6472"/>
                </a:solidFill>
                <a:latin typeface="Arial"/>
              </a:rPr>
              <a:t>Potential impact on the target audience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1050" b="0" i="1">
                <a:solidFill>
                  <a:srgbClr val="5A6472"/>
                </a:solidFill>
                <a:latin typeface="Arial"/>
              </a:rPr>
              <a:t>Benefits of the solution (social, economic, environmental, etc.)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84048" y="1645920"/>
            <a:ext cx="5577840" cy="1609344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0B2545"/>
                </a:solidFill>
                <a:latin typeface="Arial"/>
              </a:rPr>
              <a:t>STRATEGIC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0B2545"/>
                </a:solidFill>
                <a:latin typeface="Arial"/>
              </a:rPr>
              <a:t>Advances India's next-generation space &amp; defence communications — FSOC pointing algorithms developed sovereignly, without importing optical test benches.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6163056" y="1645920"/>
            <a:ext cx="5577840" cy="1609344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1F8A5B"/>
                </a:solidFill>
                <a:latin typeface="Arial"/>
              </a:rPr>
              <a:t>ECONOMIC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0B2545"/>
                </a:solidFill>
                <a:latin typeface="Arial"/>
              </a:rPr>
              <a:t>A laptop replaces lakhs of rupees of cameras, gimbals and optics. Optional ₹3,000 hardware rig proves the same code drives real motors and a real blinking LED.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84048" y="3401568"/>
            <a:ext cx="5577840" cy="1609344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0E7C99"/>
                </a:solidFill>
                <a:latin typeface="Arial"/>
              </a:rPr>
              <a:t>RESEARCH &amp; EDUCATION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0B2545"/>
                </a:solidFill>
                <a:latin typeface="Arial"/>
              </a:rPr>
              <a:t>Any student or ISRO lab can develop, test and compare PAT algorithms instantly — reproducible scenarios, honest ground-truth scoring, open source.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6163056" y="3401568"/>
            <a:ext cx="5577840" cy="1609344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B06A00"/>
                </a:solidFill>
                <a:latin typeface="Arial"/>
              </a:rPr>
              <a:t>SCALABLE &amp; GREEN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0B2545"/>
                </a:solidFill>
                <a:latin typeface="Arial"/>
              </a:rPr>
              <a:t>Same engine covers satellite, UAV, ground and maritime links. Pure software — no consumables, no lab energy, no e-waste in the development cycle.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384048" y="5285232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200" b="1" i="0">
                <a:solidFill>
                  <a:srgbClr val="0B2545"/>
                </a:solidFill>
                <a:latin typeface="Arial"/>
              </a:rPr>
              <a:t>Target audience:  </a:t>
            </a:r>
            <a:r>
              <a:rPr sz="1200" b="0" i="0">
                <a:solidFill>
                  <a:srgbClr val="0B2545"/>
                </a:solidFill>
                <a:latin typeface="Arial"/>
              </a:rPr>
              <a:t>ISRO / IN-SPACe optical-communication teams, DRDO, IITs &amp; engineering colleges, and India's growing space-tech startups.</a:t>
            </a:r>
          </a:p>
          <a:p>
            <a:pPr>
              <a:spcAft>
                <a:spcPts val="500"/>
              </a:spcAft>
            </a:pPr>
            <a:r>
              <a:rPr sz="1200" b="1" i="0">
                <a:solidFill>
                  <a:srgbClr val="0B2545"/>
                </a:solidFill>
                <a:latin typeface="Arial"/>
              </a:rPr>
              <a:t>The number that matters:  </a:t>
            </a:r>
            <a:r>
              <a:rPr sz="1200" b="0" i="0">
                <a:solidFill>
                  <a:srgbClr val="0B2545"/>
                </a:solidFill>
                <a:latin typeface="Arial"/>
              </a:rPr>
              <a:t>on a tracked ISS pass our coarse stage + a modelled fine stage closes the optical link 99.3% of the time vs 14.7% without — measured, not asserted.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914400"/>
            <a:ext cx="100584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1050" b="0" i="1">
                <a:solidFill>
                  <a:srgbClr val="5A6472"/>
                </a:solidFill>
                <a:latin typeface="Arial"/>
              </a:rPr>
              <a:t>Details / Links of the reference and research work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545"/>
          </a:solidFill>
          <a:ln w="15875">
            <a:solidFill>
              <a:srgbClr val="0E7C99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ZeroDrift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384048" y="1517904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0B2545"/>
                </a:solidFill>
                <a:latin typeface="Arial"/>
              </a:rPr>
              <a:t>Research foundations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384048" y="1920240"/>
            <a:ext cx="557784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Kaymak et al.,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“A Survey on Acquisition, Tracking and Pointing Mechanisms for Mobile FSO,” IEEE Comm. Surveys &amp; Tutorials, 2018.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Kaushal &amp; Kaddoum,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“Optical Communication in Space: Challenges and Mitigation Techniques,” IEEE Comm. Surveys &amp; Tutorials, 2017.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Blackman &amp; Popoli,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Design and Analysis of Modern Tracking Systems — IMM filtering, CFAR detection, track management.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Bar-Shalom et al.,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Estimation with Applications to Tracking and Navigation — Kalman/IMM theory.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Smith, O.J.M.,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“Closer Control of Loops with Dead Time” — the Smith predictor, 1957.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Vallado &amp; Crawford,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“SGP4 Orbit Determination” — AIAA 2008; real ISS TLE propagation.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Andrews &amp; Phillips,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Laser Beam Propagation through Random Media — turbulence &amp; scintillation models.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6355080" y="1517904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0B2545"/>
                </a:solidFill>
                <a:latin typeface="Arial"/>
              </a:rPr>
              <a:t>Our work — open and verifiable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6355080" y="1920240"/>
            <a:ext cx="54864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Repository: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github.com/pranshukesavmishra/SIH-2026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Inside: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full source (5,000+ lines, documented) · 73 automated tests · 6 validated scenarios · Monte-Carlo campaign logs · technical report · user manual · demo video.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Reproducibility: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every figure in this deck regenerates from one command; every random draw is logged and replayable.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6355080" y="4206240"/>
            <a:ext cx="5486400" cy="1737360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Why ZeroDrift wins on this problem</a:t>
            </a:r>
          </a:p>
          <a:p>
            <a:pPr>
              <a:spcBef>
                <a:spcPts val="400"/>
              </a:spcBef>
            </a:pPr>
            <a:r>
              <a:rPr sz="1150" b="1" i="0">
                <a:solidFill>
                  <a:srgbClr val="7FD4A8"/>
                </a:solidFill>
                <a:latin typeface="Arial"/>
              </a:rPr>
              <a:t>✓  </a:t>
            </a:r>
            <a:r>
              <a:rPr sz="1150" b="0" i="0">
                <a:solidFill>
                  <a:srgbClr val="FFFFFF"/>
                </a:solidFill>
                <a:latin typeface="Arial"/>
              </a:rPr>
              <a:t>All six mandatory deliverables already exist today</a:t>
            </a:r>
          </a:p>
          <a:p>
            <a:pPr>
              <a:spcBef>
                <a:spcPts val="400"/>
              </a:spcBef>
            </a:pPr>
            <a:r>
              <a:rPr sz="1150" b="1" i="0">
                <a:solidFill>
                  <a:srgbClr val="7FD4A8"/>
                </a:solidFill>
                <a:latin typeface="Arial"/>
              </a:rPr>
              <a:t>✓  </a:t>
            </a:r>
            <a:r>
              <a:rPr sz="1150" b="0" i="0">
                <a:solidFill>
                  <a:srgbClr val="FFFFFF"/>
                </a:solidFill>
                <a:latin typeface="Arial"/>
              </a:rPr>
              <a:t>Judged numbers, honestly measured against hidden ground truth</a:t>
            </a:r>
          </a:p>
          <a:p>
            <a:pPr>
              <a:spcBef>
                <a:spcPts val="400"/>
              </a:spcBef>
            </a:pPr>
            <a:r>
              <a:rPr sz="1150" b="1" i="0">
                <a:solidFill>
                  <a:srgbClr val="7FD4A8"/>
                </a:solidFill>
                <a:latin typeface="Arial"/>
              </a:rPr>
              <a:t>✓  </a:t>
            </a:r>
            <a:r>
              <a:rPr sz="1150" b="0" i="0">
                <a:solidFill>
                  <a:srgbClr val="FFFFFF"/>
                </a:solidFill>
                <a:latin typeface="Arial"/>
              </a:rPr>
              <a:t>AI where it earns its place — benchmarked against classical methods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