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357687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9326880" cy="2076450"/>
          </a:xfrm>
        </p:spPr>
        <p:txBody>
          <a:bodyPr/>
          <a:lstStyle/>
          <a:p>
            <a:r>
              <a:rPr lang="en-US" sz="34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34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just">
              <a:lnSpc>
                <a:spcPct val="2000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500" b="1" i="0">
                <a:solidFill>
                  <a:srgbClr val="0B2545"/>
                </a:solidFill>
                <a:latin typeface="Arial"/>
              </a:rPr>
              <a:t>Problem Statement ID –</a:t>
            </a:r>
            <a:r>
              <a:rPr sz="1500" b="1" i="0">
                <a:solidFill>
                  <a:srgbClr val="0E7C99"/>
                </a:solidFill>
                <a:latin typeface="Arial"/>
              </a:rPr>
              <a:t>  26169</a:t>
            </a:r>
          </a:p>
          <a:p>
            <a:pPr marL="285750" indent="-285750" algn="just">
              <a:lnSpc>
                <a:spcPct val="2000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500" b="1" i="0">
                <a:solidFill>
                  <a:srgbClr val="0B2545"/>
                </a:solidFill>
                <a:latin typeface="Arial"/>
              </a:rPr>
              <a:t>Problem Statement Title –</a:t>
            </a:r>
            <a:r>
              <a:rPr sz="1500" b="0" i="0">
                <a:solidFill>
                  <a:srgbClr val="0E7C99"/>
                </a:solidFill>
                <a:latin typeface="Arial"/>
              </a:rPr>
              <a:t>  AI-Based Virtual Camera Tracking System for Coarse Alignment of Mobile FSOC Terminals</a:t>
            </a:r>
          </a:p>
          <a:p>
            <a:pPr marL="285750" indent="-285750" algn="just">
              <a:lnSpc>
                <a:spcPct val="2000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500" b="1" i="0">
                <a:solidFill>
                  <a:srgbClr val="0B2545"/>
                </a:solidFill>
                <a:latin typeface="Arial"/>
              </a:rPr>
              <a:t>Theme –</a:t>
            </a:r>
            <a:r>
              <a:rPr sz="1500" b="0" i="0">
                <a:solidFill>
                  <a:srgbClr val="0E7C99"/>
                </a:solidFill>
                <a:latin typeface="Arial"/>
              </a:rPr>
              <a:t>  Smart Automation</a:t>
            </a:r>
          </a:p>
          <a:p>
            <a:pPr marL="285750" indent="-285750" algn="just">
              <a:lnSpc>
                <a:spcPct val="2000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500" b="1" i="0">
                <a:solidFill>
                  <a:srgbClr val="0B2545"/>
                </a:solidFill>
                <a:latin typeface="Arial"/>
              </a:rPr>
              <a:t>PS Category –</a:t>
            </a:r>
            <a:r>
              <a:rPr sz="1500" b="0" i="0">
                <a:solidFill>
                  <a:srgbClr val="0E7C99"/>
                </a:solidFill>
                <a:latin typeface="Arial"/>
              </a:rPr>
              <a:t>  Software</a:t>
            </a:r>
          </a:p>
          <a:p>
            <a:pPr marL="285750" indent="-285750" algn="just">
              <a:lnSpc>
                <a:spcPct val="2000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500" b="1" i="0">
                <a:solidFill>
                  <a:srgbClr val="0B2545"/>
                </a:solidFill>
                <a:latin typeface="Arial"/>
              </a:rPr>
              <a:t>Team ID –</a:t>
            </a:r>
            <a:r>
              <a:rPr sz="1500" b="0" i="0">
                <a:solidFill>
                  <a:srgbClr val="0E7C99"/>
                </a:solidFill>
                <a:latin typeface="Arial"/>
              </a:rPr>
              <a:t>  —</a:t>
            </a:r>
          </a:p>
          <a:p>
            <a:pPr marL="285750" indent="-285750" algn="just">
              <a:lnSpc>
                <a:spcPct val="2000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500" b="1" i="0">
                <a:solidFill>
                  <a:srgbClr val="0B2545"/>
                </a:solidFill>
                <a:latin typeface="Arial"/>
              </a:rPr>
              <a:t>Team Name –</a:t>
            </a:r>
            <a:r>
              <a:rPr sz="1500" b="1" i="0">
                <a:solidFill>
                  <a:srgbClr val="0E7C99"/>
                </a:solidFill>
                <a:latin typeface="Arial"/>
              </a:rPr>
              <a:t>  ZeroDrift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38" name="Picture 37" descr="logo_fu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5040" y="5989320"/>
            <a:ext cx="2040941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/>
            </a:r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IDEA TITLE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1755648" y="914400"/>
            <a:ext cx="10058400" cy="7863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spcAft>
                <a:spcPts val="0"/>
              </a:spcAft>
              <a:buFont typeface="Wingdings" panose="05000000000000000000" pitchFamily="2" charset="2"/>
              <a:buChar char="v"/>
            </a:pPr>
            <a:r>
              <a:rPr sz="1050" b="0" i="1">
                <a:solidFill>
                  <a:srgbClr val="5A6472"/>
                </a:solidFill>
                <a:latin typeface="Arial"/>
              </a:rPr>
              <a:t>Proposed Solution (Describe your Idea/Solution/Prototype)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342900" indent="-342900" algn="just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1050" b="0" i="1">
                <a:solidFill>
                  <a:srgbClr val="5A6472"/>
                </a:solidFill>
                <a:latin typeface="Arial"/>
              </a:rPr>
              <a:t>Detailed explanation of the proposed solution</a:t>
            </a:r>
          </a:p>
          <a:p>
            <a:pPr marL="342900" indent="-342900" algn="just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1050" b="0" i="1">
                <a:solidFill>
                  <a:srgbClr val="5A6472"/>
                </a:solidFill>
                <a:latin typeface="Arial"/>
              </a:rPr>
              <a:t>How it addresses the problem</a:t>
            </a:r>
          </a:p>
          <a:p>
            <a:pPr marL="342900" indent="-342900" algn="just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1050" b="0" i="1">
                <a:solidFill>
                  <a:srgbClr val="5A6472"/>
                </a:solidFill>
                <a:latin typeface="Arial"/>
              </a:rPr>
              <a:t>Innovation and uniqueness of the solution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B2545"/>
          </a:solidFill>
          <a:ln w="15875">
            <a:solidFill>
              <a:srgbClr val="0E7C99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ZeroDrift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3" name="TextBox 15362"/>
          <p:cNvSpPr txBox="1"/>
          <p:nvPr/>
        </p:nvSpPr>
        <p:spPr>
          <a:xfrm>
            <a:off x="384048" y="1810512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E7C99"/>
                </a:solidFill>
                <a:latin typeface="Arial"/>
              </a:rPr>
              <a:t>The eyes and neck of a laser communication terminal</a:t>
            </a:r>
          </a:p>
        </p:txBody>
      </p:sp>
      <p:sp>
        <p:nvSpPr>
          <p:cNvPr id="15364" name="TextBox 15363"/>
          <p:cNvSpPr txBox="1"/>
          <p:nvPr/>
        </p:nvSpPr>
        <p:spPr>
          <a:xfrm>
            <a:off x="384048" y="2286000"/>
            <a:ext cx="630936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250" b="1" i="0">
                <a:solidFill>
                  <a:srgbClr val="0B2545"/>
                </a:solidFill>
                <a:latin typeface="Arial"/>
              </a:rPr>
              <a:t>Complete virtual testbed: 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physics-honest sky — turbulence (Greenwood-correlated), platform vibration, sensor noise, moving beacons on real LEO/UAV paths.</a:t>
            </a:r>
          </a:p>
          <a:p>
            <a:pPr>
              <a:spcAft>
                <a:spcPts val="700"/>
              </a:spcAft>
            </a:pPr>
            <a:r>
              <a:rPr sz="1250" b="1" i="0">
                <a:solidFill>
                  <a:srgbClr val="0B2545"/>
                </a:solidFill>
                <a:latin typeface="Arial"/>
              </a:rPr>
              <a:t>AI-assisted closed-loop tracker: 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detects the beacon, identifies it, estimates motion, and steers a virtual pan-tilt camera to hold it in the FOV.</a:t>
            </a:r>
          </a:p>
          <a:p>
            <a:pPr>
              <a:spcAft>
                <a:spcPts val="700"/>
              </a:spcAft>
            </a:pPr>
            <a:r>
              <a:rPr sz="1250" b="1" i="0">
                <a:solidFill>
                  <a:srgbClr val="0B2545"/>
                </a:solidFill>
                <a:latin typeface="Arial"/>
              </a:rPr>
              <a:t>Addresses the problem exactly: 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coarse-alignment algorithms developed and validated with zero optical hardware — ISRO's stated need.</a:t>
            </a:r>
          </a:p>
          <a:p>
            <a:pPr>
              <a:spcAft>
                <a:spcPts val="700"/>
              </a:spcAft>
            </a:pPr>
            <a:r>
              <a:rPr sz="1250" b="1" i="0">
                <a:solidFill>
                  <a:srgbClr val="0B2545"/>
                </a:solidFill>
                <a:latin typeface="Arial"/>
              </a:rPr>
              <a:t>Innovation: 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beacon identified by its blink signature (hard gate — stars score 0), IMM motion filter, latency-compensating Smith predictor, from-scratch neural track verifier.</a:t>
            </a:r>
          </a:p>
          <a:p>
            <a:pPr>
              <a:spcAft>
                <a:spcPts val="700"/>
              </a:spcAft>
            </a:pPr>
            <a:r>
              <a:rPr sz="1250" b="1" i="0">
                <a:solidFill>
                  <a:srgbClr val="0B2545"/>
                </a:solidFill>
                <a:latin typeface="Arial"/>
              </a:rPr>
              <a:t>Not a concept — already built: 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GUI console, standalone app, 73 automated tests, full performance reports.</a:t>
            </a:r>
          </a:p>
        </p:txBody>
      </p:sp>
      <p:pic>
        <p:nvPicPr>
          <p:cNvPr id="15365" name="Picture 15364" descr="gui_sh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3720" y="1847088"/>
            <a:ext cx="4892040" cy="2751772"/>
          </a:xfrm>
          <a:prstGeom prst="rect">
            <a:avLst/>
          </a:prstGeom>
          <a:ln w="9525">
            <a:solidFill>
              <a:srgbClr val="5A6472"/>
            </a:solidFill>
          </a:ln>
        </p:spPr>
      </p:pic>
      <p:sp>
        <p:nvSpPr>
          <p:cNvPr id="15366" name="TextBox 15365"/>
          <p:cNvSpPr txBox="1"/>
          <p:nvPr/>
        </p:nvSpPr>
        <p:spPr>
          <a:xfrm>
            <a:off x="6903720" y="4846320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5A6472"/>
                </a:solidFill>
                <a:latin typeface="Arial"/>
              </a:rPr>
              <a:t>Our console, live: locked on the beacon at 175 µrad</a:t>
            </a:r>
          </a:p>
        </p:txBody>
      </p:sp>
      <p:sp>
        <p:nvSpPr>
          <p:cNvPr id="15367" name="Rounded Rectangle 15366"/>
          <p:cNvSpPr/>
          <p:nvPr/>
        </p:nvSpPr>
        <p:spPr>
          <a:xfrm>
            <a:off x="384048" y="5257800"/>
            <a:ext cx="2011680" cy="859536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1.1 s</a:t>
            </a:r>
          </a:p>
          <a:p>
            <a:pPr algn="ctr"/>
            <a:r>
              <a:rPr sz="950" b="0" i="0">
                <a:solidFill>
                  <a:srgbClr val="BFD7E4"/>
                </a:solidFill>
                <a:latin typeface="Arial"/>
              </a:rPr>
              <a:t>acquisition time</a:t>
            </a:r>
          </a:p>
        </p:txBody>
      </p:sp>
      <p:sp>
        <p:nvSpPr>
          <p:cNvPr id="15368" name="Rounded Rectangle 15367"/>
          <p:cNvSpPr/>
          <p:nvPr/>
        </p:nvSpPr>
        <p:spPr>
          <a:xfrm>
            <a:off x="2532888" y="5257800"/>
            <a:ext cx="2011680" cy="859536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98.8 %</a:t>
            </a:r>
          </a:p>
          <a:p>
            <a:pPr algn="ctr"/>
            <a:r>
              <a:rPr sz="950" b="0" i="0">
                <a:solidFill>
                  <a:srgbClr val="BFD7E4"/>
                </a:solidFill>
                <a:latin typeface="Arial"/>
              </a:rPr>
              <a:t>lock retention</a:t>
            </a:r>
          </a:p>
        </p:txBody>
      </p:sp>
      <p:sp>
        <p:nvSpPr>
          <p:cNvPr id="15369" name="Rounded Rectangle 15368"/>
          <p:cNvSpPr/>
          <p:nvPr/>
        </p:nvSpPr>
        <p:spPr>
          <a:xfrm>
            <a:off x="4681728" y="5257800"/>
            <a:ext cx="2011680" cy="859536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0 / 64</a:t>
            </a:r>
          </a:p>
          <a:p>
            <a:pPr algn="ctr"/>
            <a:r>
              <a:rPr sz="950" b="0" i="0">
                <a:solidFill>
                  <a:srgbClr val="BFD7E4"/>
                </a:solidFill>
                <a:latin typeface="Arial"/>
              </a:rPr>
              <a:t>wrong-target locks</a:t>
            </a:r>
          </a:p>
        </p:txBody>
      </p:sp>
      <p:sp>
        <p:nvSpPr>
          <p:cNvPr id="15370" name="TextBox 15369"/>
          <p:cNvSpPr txBox="1"/>
          <p:nvPr/>
        </p:nvSpPr>
        <p:spPr>
          <a:xfrm>
            <a:off x="6903720" y="5257800"/>
            <a:ext cx="4892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50" b="1" i="0">
                <a:solidFill>
                  <a:srgbClr val="0B2545"/>
                </a:solidFill>
                <a:latin typeface="Arial"/>
              </a:rPr>
              <a:t>Median pointing error 207 µrad </a:t>
            </a:r>
            <a:r>
              <a:rPr sz="1150" b="0" i="0">
                <a:solidFill>
                  <a:srgbClr val="0B2545"/>
                </a:solidFill>
                <a:latin typeface="Arial"/>
              </a:rPr>
              <a:t>— beacon kept inside the field of view 100% of the pass.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1755648" y="914400"/>
            <a:ext cx="10058400" cy="5669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1050" b="0" i="1">
                <a:solidFill>
                  <a:srgbClr val="5A6472"/>
                </a:solidFill>
                <a:latin typeface="Arial"/>
              </a:rPr>
              <a:t>Technologies to be used (e.g. programming languages, frameworks, hardware)</a:t>
            </a:r>
          </a:p>
          <a:p>
            <a:pPr marL="342900" indent="-342900" algn="just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1050" b="0" i="1">
                <a:solidFill>
                  <a:srgbClr val="5A6472"/>
                </a:solidFill>
                <a:latin typeface="Arial"/>
              </a:rPr>
              <a:t>Methodology and process for implementation (Flow Charts/Images/ working prototype)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B2545"/>
          </a:solidFill>
          <a:ln w="15875">
            <a:solidFill>
              <a:srgbClr val="0E7C99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ZeroDrift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TextBox 17410"/>
          <p:cNvSpPr txBox="1"/>
          <p:nvPr/>
        </p:nvSpPr>
        <p:spPr>
          <a:xfrm>
            <a:off x="384048" y="1517904"/>
            <a:ext cx="114300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1" i="0">
                <a:solidFill>
                  <a:srgbClr val="0B2545"/>
                </a:solidFill>
                <a:latin typeface="Arial"/>
              </a:rPr>
              <a:t>Stack:  </a:t>
            </a:r>
            <a:r>
              <a:rPr sz="1200" b="0" i="0">
                <a:solidFill>
                  <a:srgbClr val="0B2545"/>
                </a:solidFill>
                <a:latin typeface="Arial"/>
              </a:rPr>
              <a:t>Python 3.11 · NumPy · OpenCV · PySide6 + pyqtgraph GUI · SGP4 real orbits · from-scratch NumPy neural net · PyInstaller one-click app · pytest (73 tests) · GitHub CI. 100% open source — zero licensing cost.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384048" y="2395728"/>
            <a:ext cx="1755648" cy="1078992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150" b="1" i="0">
                <a:solidFill>
                  <a:srgbClr val="FFFFFF"/>
                </a:solidFill>
                <a:latin typeface="Arial"/>
              </a:rPr>
              <a:t>VIRTUAL WORLD</a:t>
            </a:r>
          </a:p>
          <a:p>
            <a:pPr algn="ctr"/>
            <a:r>
              <a:rPr sz="850" b="0" i="0">
                <a:solidFill>
                  <a:srgbClr val="D5E3EC"/>
                </a:solidFill>
                <a:latin typeface="Arial"/>
              </a:rPr>
              <a:t>sky · stars · clutter</a:t>
            </a:r>
          </a:p>
          <a:p>
            <a:pPr algn="ctr"/>
            <a:r>
              <a:rPr sz="850" b="0" i="0">
                <a:solidFill>
                  <a:srgbClr val="D5E3EC"/>
                </a:solidFill>
                <a:latin typeface="Arial"/>
              </a:rPr>
              <a:t>turbulence · vibration</a:t>
            </a:r>
          </a:p>
        </p:txBody>
      </p:sp>
      <p:sp>
        <p:nvSpPr>
          <p:cNvPr id="17413" name="Right Arrow 17412"/>
          <p:cNvSpPr/>
          <p:nvPr/>
        </p:nvSpPr>
        <p:spPr>
          <a:xfrm>
            <a:off x="2121408" y="2852928"/>
            <a:ext cx="169164" cy="164592"/>
          </a:xfrm>
          <a:prstGeom prst="rightArrow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4" name="Rounded Rectangle 17413"/>
          <p:cNvSpPr/>
          <p:nvPr/>
        </p:nvSpPr>
        <p:spPr>
          <a:xfrm>
            <a:off x="2263139" y="2395728"/>
            <a:ext cx="1755648" cy="1078992"/>
          </a:xfrm>
          <a:prstGeom prst="roundRect">
            <a:avLst>
              <a:gd name="adj" fmla="val 6000"/>
            </a:avLst>
          </a:prstGeom>
          <a:solidFill>
            <a:srgbClr val="0E7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150" b="1" i="0">
                <a:solidFill>
                  <a:srgbClr val="FFFFFF"/>
                </a:solidFill>
                <a:latin typeface="Arial"/>
              </a:rPr>
              <a:t>DETECT</a:t>
            </a:r>
          </a:p>
          <a:p>
            <a:pPr algn="ctr"/>
            <a:r>
              <a:rPr sz="850" b="0" i="0">
                <a:solidFill>
                  <a:srgbClr val="D5E3EC"/>
                </a:solidFill>
                <a:latin typeface="Arial"/>
              </a:rPr>
              <a:t>top-hat + matched</a:t>
            </a:r>
          </a:p>
          <a:p>
            <a:pPr algn="ctr"/>
            <a:r>
              <a:rPr sz="850" b="0" i="0">
                <a:solidFill>
                  <a:srgbClr val="D5E3EC"/>
                </a:solidFill>
                <a:latin typeface="Arial"/>
              </a:rPr>
              <a:t>filter + CFAR</a:t>
            </a:r>
          </a:p>
        </p:txBody>
      </p:sp>
      <p:sp>
        <p:nvSpPr>
          <p:cNvPr id="17415" name="Right Arrow 17414"/>
          <p:cNvSpPr/>
          <p:nvPr/>
        </p:nvSpPr>
        <p:spPr>
          <a:xfrm>
            <a:off x="4000500" y="2852928"/>
            <a:ext cx="169164" cy="164592"/>
          </a:xfrm>
          <a:prstGeom prst="rightArrow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6" name="Rounded Rectangle 17415"/>
          <p:cNvSpPr/>
          <p:nvPr/>
        </p:nvSpPr>
        <p:spPr>
          <a:xfrm>
            <a:off x="4142231" y="2395728"/>
            <a:ext cx="1755648" cy="1078992"/>
          </a:xfrm>
          <a:prstGeom prst="roundRect">
            <a:avLst>
              <a:gd name="adj" fmla="val 6000"/>
            </a:avLst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150" b="1" i="0">
                <a:solidFill>
                  <a:srgbClr val="FFFFFF"/>
                </a:solidFill>
                <a:latin typeface="Arial"/>
              </a:rPr>
              <a:t>IDENTIFY</a:t>
            </a:r>
          </a:p>
          <a:p>
            <a:pPr algn="ctr"/>
            <a:r>
              <a:rPr sz="850" b="0" i="0">
                <a:solidFill>
                  <a:srgbClr val="D5E3EC"/>
                </a:solidFill>
                <a:latin typeface="Arial"/>
              </a:rPr>
              <a:t>blink signature gate</a:t>
            </a:r>
          </a:p>
          <a:p>
            <a:pPr algn="ctr"/>
            <a:r>
              <a:rPr sz="850" b="0" i="0">
                <a:solidFill>
                  <a:srgbClr val="D5E3EC"/>
                </a:solidFill>
                <a:latin typeface="Arial"/>
              </a:rPr>
              <a:t>+ AI verifier</a:t>
            </a:r>
          </a:p>
        </p:txBody>
      </p:sp>
      <p:sp>
        <p:nvSpPr>
          <p:cNvPr id="17417" name="Right Arrow 17416"/>
          <p:cNvSpPr/>
          <p:nvPr/>
        </p:nvSpPr>
        <p:spPr>
          <a:xfrm>
            <a:off x="5879592" y="2852928"/>
            <a:ext cx="169164" cy="164592"/>
          </a:xfrm>
          <a:prstGeom prst="rightArrow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Rounded Rectangle 17417"/>
          <p:cNvSpPr/>
          <p:nvPr/>
        </p:nvSpPr>
        <p:spPr>
          <a:xfrm>
            <a:off x="6021323" y="2395728"/>
            <a:ext cx="1755648" cy="1078992"/>
          </a:xfrm>
          <a:prstGeom prst="roundRect">
            <a:avLst>
              <a:gd name="adj" fmla="val 6000"/>
            </a:avLst>
          </a:prstGeom>
          <a:solidFill>
            <a:srgbClr val="0E7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150" b="1" i="0">
                <a:solidFill>
                  <a:srgbClr val="FFFFFF"/>
                </a:solidFill>
                <a:latin typeface="Arial"/>
              </a:rPr>
              <a:t>ESTIMATE</a:t>
            </a:r>
          </a:p>
          <a:p>
            <a:pPr algn="ctr"/>
            <a:r>
              <a:rPr sz="850" b="0" i="0">
                <a:solidFill>
                  <a:srgbClr val="D5E3EC"/>
                </a:solidFill>
                <a:latin typeface="Arial"/>
              </a:rPr>
              <a:t>IMM Kalman filter</a:t>
            </a:r>
          </a:p>
          <a:p>
            <a:pPr algn="ctr"/>
            <a:r>
              <a:rPr sz="850" b="0" i="0">
                <a:solidFill>
                  <a:srgbClr val="D5E3EC"/>
                </a:solidFill>
                <a:latin typeface="Arial"/>
              </a:rPr>
              <a:t>position + velocity</a:t>
            </a:r>
          </a:p>
        </p:txBody>
      </p:sp>
      <p:sp>
        <p:nvSpPr>
          <p:cNvPr id="17419" name="Right Arrow 17418"/>
          <p:cNvSpPr/>
          <p:nvPr/>
        </p:nvSpPr>
        <p:spPr>
          <a:xfrm>
            <a:off x="7758683" y="2852928"/>
            <a:ext cx="169164" cy="164592"/>
          </a:xfrm>
          <a:prstGeom prst="rightArrow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0" name="Rounded Rectangle 17419"/>
          <p:cNvSpPr/>
          <p:nvPr/>
        </p:nvSpPr>
        <p:spPr>
          <a:xfrm>
            <a:off x="7900415" y="2395728"/>
            <a:ext cx="1755648" cy="1078992"/>
          </a:xfrm>
          <a:prstGeom prst="roundRect">
            <a:avLst>
              <a:gd name="adj" fmla="val 6000"/>
            </a:avLst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150" b="1" i="0">
                <a:solidFill>
                  <a:srgbClr val="FFFFFF"/>
                </a:solidFill>
                <a:latin typeface="Arial"/>
              </a:rPr>
              <a:t>CONTROL</a:t>
            </a:r>
          </a:p>
          <a:p>
            <a:pPr algn="ctr"/>
            <a:r>
              <a:rPr sz="850" b="0" i="0">
                <a:solidFill>
                  <a:srgbClr val="D5E3EC"/>
                </a:solidFill>
                <a:latin typeface="Arial"/>
              </a:rPr>
              <a:t>Smith predictor</a:t>
            </a:r>
          </a:p>
          <a:p>
            <a:pPr algn="ctr"/>
            <a:r>
              <a:rPr sz="850" b="0" i="0">
                <a:solidFill>
                  <a:srgbClr val="D5E3EC"/>
                </a:solidFill>
                <a:latin typeface="Arial"/>
              </a:rPr>
              <a:t>+ feed-forward</a:t>
            </a:r>
          </a:p>
        </p:txBody>
      </p:sp>
      <p:sp>
        <p:nvSpPr>
          <p:cNvPr id="17421" name="Right Arrow 17420"/>
          <p:cNvSpPr/>
          <p:nvPr/>
        </p:nvSpPr>
        <p:spPr>
          <a:xfrm>
            <a:off x="9637776" y="2852928"/>
            <a:ext cx="169164" cy="164592"/>
          </a:xfrm>
          <a:prstGeom prst="rightArrow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2" name="Rounded Rectangle 17421"/>
          <p:cNvSpPr/>
          <p:nvPr/>
        </p:nvSpPr>
        <p:spPr>
          <a:xfrm>
            <a:off x="9779507" y="2395728"/>
            <a:ext cx="1755648" cy="1078992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150" b="1" i="0">
                <a:solidFill>
                  <a:srgbClr val="FFFFFF"/>
                </a:solidFill>
                <a:latin typeface="Arial"/>
              </a:rPr>
              <a:t>VIRTUAL GIMBAL</a:t>
            </a:r>
          </a:p>
          <a:p>
            <a:pPr algn="ctr"/>
            <a:r>
              <a:rPr sz="850" b="0" i="0">
                <a:solidFill>
                  <a:srgbClr val="D5E3EC"/>
                </a:solidFill>
                <a:latin typeface="Arial"/>
              </a:rPr>
              <a:t>slew limits · latency</a:t>
            </a:r>
          </a:p>
          <a:p>
            <a:pPr algn="ctr"/>
            <a:r>
              <a:rPr sz="850" b="0" i="0">
                <a:solidFill>
                  <a:srgbClr val="D5E3EC"/>
                </a:solidFill>
                <a:latin typeface="Arial"/>
              </a:rPr>
              <a:t>encoder noise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384048" y="3529584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5A6472"/>
                </a:solidFill>
                <a:latin typeface="Arial"/>
              </a:rPr>
              <a:t>closed loop at the camera’s 30 frames per second — real time on a normal laptop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384048" y="3895344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0B2545"/>
                </a:solidFill>
                <a:latin typeface="Arial"/>
              </a:rPr>
              <a:t>Acquisition state machine</a:t>
            </a:r>
          </a:p>
        </p:txBody>
      </p:sp>
      <p:sp>
        <p:nvSpPr>
          <p:cNvPr id="17425" name="Rounded Rectangle 17424"/>
          <p:cNvSpPr/>
          <p:nvPr/>
        </p:nvSpPr>
        <p:spPr>
          <a:xfrm>
            <a:off x="384048" y="4187952"/>
            <a:ext cx="1325880" cy="457200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SEARCH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1865376" y="4187952"/>
            <a:ext cx="1325880" cy="457200"/>
          </a:xfrm>
          <a:prstGeom prst="roundRect">
            <a:avLst>
              <a:gd name="adj" fmla="val 6000"/>
            </a:avLst>
          </a:prstGeom>
          <a:solidFill>
            <a:srgbClr val="B0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ACQUIRE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3346704" y="4187952"/>
            <a:ext cx="1325880" cy="457200"/>
          </a:xfrm>
          <a:prstGeom prst="roundRect">
            <a:avLst>
              <a:gd name="adj" fmla="val 6000"/>
            </a:avLst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TRACK</a:t>
            </a:r>
          </a:p>
        </p:txBody>
      </p:sp>
      <p:sp>
        <p:nvSpPr>
          <p:cNvPr id="17428" name="Rounded Rectangle 17427"/>
          <p:cNvSpPr/>
          <p:nvPr/>
        </p:nvSpPr>
        <p:spPr>
          <a:xfrm>
            <a:off x="4828032" y="4187952"/>
            <a:ext cx="1325880" cy="457200"/>
          </a:xfrm>
          <a:prstGeom prst="roundRect">
            <a:avLst>
              <a:gd name="adj" fmla="val 6000"/>
            </a:avLst>
          </a:prstGeom>
          <a:solidFill>
            <a:srgbClr val="B0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COAST</a:t>
            </a:r>
          </a:p>
        </p:txBody>
      </p:sp>
      <p:sp>
        <p:nvSpPr>
          <p:cNvPr id="17429" name="Rounded Rectangle 17428"/>
          <p:cNvSpPr/>
          <p:nvPr/>
        </p:nvSpPr>
        <p:spPr>
          <a:xfrm>
            <a:off x="6309360" y="4187952"/>
            <a:ext cx="1325880" cy="457200"/>
          </a:xfrm>
          <a:prstGeom prst="roundRect">
            <a:avLst>
              <a:gd name="adj" fmla="val 6000"/>
            </a:avLst>
          </a:prstGeom>
          <a:solidFill>
            <a:srgbClr val="9C2E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REACQUIRE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384048" y="4718304"/>
            <a:ext cx="73152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/>
            </a:r>
            <a:r>
              <a:rPr sz="1100" b="0" i="0">
                <a:solidFill>
                  <a:srgbClr val="0B2545"/>
                </a:solidFill>
                <a:latin typeface="Arial"/>
              </a:rPr>
              <a:t>Spiral search over the uncertainty cone → lock → coast through beacon blinks → automatic recovery. Verified: recovers the true beacon even when started 5° off-target among decoys.</a:t>
            </a:r>
          </a:p>
        </p:txBody>
      </p:sp>
      <p:pic>
        <p:nvPicPr>
          <p:cNvPr id="17431" name="Picture 17430" descr="vid_fra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7" y="3895344"/>
            <a:ext cx="3931920" cy="1887322"/>
          </a:xfrm>
          <a:prstGeom prst="rect">
            <a:avLst/>
          </a:prstGeom>
          <a:ln w="9525">
            <a:solidFill>
              <a:srgbClr val="5A6472"/>
            </a:solidFill>
          </a:ln>
        </p:spPr>
      </p:pic>
      <p:sp>
        <p:nvSpPr>
          <p:cNvPr id="17432" name="TextBox 17431"/>
          <p:cNvSpPr txBox="1"/>
          <p:nvPr/>
        </p:nvSpPr>
        <p:spPr>
          <a:xfrm>
            <a:off x="7882127" y="5833872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5A6472"/>
                </a:solidFill>
                <a:latin typeface="Arial"/>
              </a:rPr>
              <a:t>Working prototype — tracking a satellite pass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1755648" y="914400"/>
            <a:ext cx="10058400" cy="7863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1050" b="0" i="1">
                <a:solidFill>
                  <a:srgbClr val="5A6472"/>
                </a:solidFill>
                <a:latin typeface="Arial"/>
              </a:rPr>
              <a:t>Analysis of the feasibility of the idea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1050" b="0" i="1">
                <a:solidFill>
                  <a:srgbClr val="5A6472"/>
                </a:solidFill>
                <a:latin typeface="Arial"/>
              </a:rPr>
              <a:t>Potential challenges and risks</a:t>
            </a: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1050" b="0" i="1">
                <a:solidFill>
                  <a:srgbClr val="5A6472"/>
                </a:solidFill>
                <a:latin typeface="Arial"/>
              </a:rPr>
              <a:t>Strategies for overcoming these challenges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B2545"/>
          </a:solidFill>
          <a:ln w="15875">
            <a:solidFill>
              <a:srgbClr val="0E7C99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ZeroDrift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384048" y="1810512"/>
            <a:ext cx="3657600" cy="457200"/>
          </a:xfrm>
          <a:prstGeom prst="roundRect">
            <a:avLst>
              <a:gd name="adj" fmla="val 6000"/>
            </a:avLst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FEASIBILITY — PROVEN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384048" y="2340864"/>
            <a:ext cx="3657600" cy="3017520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1F8A5B"/>
                </a:solidFill>
                <a:latin typeface="Arial"/>
              </a:rPr>
              <a:t>• </a:t>
            </a:r>
            <a:r>
              <a:rPr sz="1200" b="0" i="0">
                <a:solidFill>
                  <a:srgbClr val="0B2545"/>
                </a:solidFill>
                <a:latin typeface="Arial"/>
              </a:rPr>
              <a:t>Fully working today: 73/73 automated tests pass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1F8A5B"/>
                </a:solidFill>
                <a:latin typeface="Arial"/>
              </a:rPr>
              <a:t>• </a:t>
            </a:r>
            <a:r>
              <a:rPr sz="1200" b="0" i="0">
                <a:solidFill>
                  <a:srgbClr val="0B2545"/>
                </a:solidFill>
                <a:latin typeface="Arial"/>
              </a:rPr>
              <a:t>64-run randomised Monte-Carlo campaign: 100% acquisition, zero wrong locks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1F8A5B"/>
                </a:solidFill>
                <a:latin typeface="Arial"/>
              </a:rPr>
              <a:t>• </a:t>
            </a:r>
            <a:r>
              <a:rPr sz="1200" b="0" i="0">
                <a:solidFill>
                  <a:srgbClr val="0B2545"/>
                </a:solidFill>
                <a:latin typeface="Arial"/>
              </a:rPr>
              <a:t>Standalone Windows/Linux app builds in one click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1F8A5B"/>
                </a:solidFill>
                <a:latin typeface="Arial"/>
              </a:rPr>
              <a:t>• </a:t>
            </a:r>
            <a:r>
              <a:rPr sz="1200" b="0" i="0">
                <a:solidFill>
                  <a:srgbClr val="0B2545"/>
                </a:solidFill>
                <a:latin typeface="Arial"/>
              </a:rPr>
              <a:t>Runs faster than real time on a normal laptop — no GPU, no cloud, no dataset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4242816" y="1810512"/>
            <a:ext cx="3657600" cy="457200"/>
          </a:xfrm>
          <a:prstGeom prst="roundRect">
            <a:avLst>
              <a:gd name="adj" fmla="val 6000"/>
            </a:avLst>
          </a:prstGeom>
          <a:solidFill>
            <a:srgbClr val="B0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CHALLENGES &amp; RISKS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4242816" y="2340864"/>
            <a:ext cx="3657600" cy="3017520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B06A00"/>
                </a:solidFill>
                <a:latin typeface="Arial"/>
              </a:rPr>
              <a:t>• </a:t>
            </a:r>
            <a:r>
              <a:rPr sz="1200" b="0" i="0">
                <a:solidFill>
                  <a:srgbClr val="0B2545"/>
                </a:solidFill>
                <a:latin typeface="Arial"/>
              </a:rPr>
              <a:t>Heavy turbulence dims and shakes the beacon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B06A00"/>
                </a:solidFill>
                <a:latin typeface="Arial"/>
              </a:rPr>
              <a:t>• </a:t>
            </a:r>
            <a:r>
              <a:rPr sz="1200" b="0" i="0">
                <a:solidFill>
                  <a:srgbClr val="0B2545"/>
                </a:solidFill>
                <a:latin typeface="Arial"/>
              </a:rPr>
              <a:t>Bright decoys / sun glints can mimic the beacon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B06A00"/>
                </a:solidFill>
                <a:latin typeface="Arial"/>
              </a:rPr>
              <a:t>• </a:t>
            </a:r>
            <a:r>
              <a:rPr sz="1200" b="0" i="0">
                <a:solidFill>
                  <a:srgbClr val="0B2545"/>
                </a:solidFill>
                <a:latin typeface="Arial"/>
              </a:rPr>
              <a:t>Mount latency destabilises fast tracking loops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B06A00"/>
                </a:solidFill>
                <a:latin typeface="Arial"/>
              </a:rPr>
              <a:t>• </a:t>
            </a:r>
            <a:r>
              <a:rPr sz="1200" b="0" i="0">
                <a:solidFill>
                  <a:srgbClr val="0B2545"/>
                </a:solidFill>
                <a:latin typeface="Arial"/>
              </a:rPr>
              <a:t>Sharp UAV manoeuvres break simple trackers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8101583" y="1810512"/>
            <a:ext cx="3657600" cy="457200"/>
          </a:xfrm>
          <a:prstGeom prst="roundRect">
            <a:avLst>
              <a:gd name="adj" fmla="val 6000"/>
            </a:avLst>
          </a:prstGeom>
          <a:solidFill>
            <a:srgbClr val="0E7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OUR STRATEGIES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8101583" y="2340864"/>
            <a:ext cx="3657600" cy="3017520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E7C99"/>
                </a:solidFill>
                <a:latin typeface="Arial"/>
              </a:rPr>
              <a:t>• </a:t>
            </a:r>
            <a:r>
              <a:rPr sz="1200" b="0" i="0">
                <a:solidFill>
                  <a:srgbClr val="0B2545"/>
                </a:solidFill>
                <a:latin typeface="Arial"/>
              </a:rPr>
              <a:t>Coast-through-fade + automatic re-acquisition spiral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E7C99"/>
                </a:solidFill>
                <a:latin typeface="Arial"/>
              </a:rPr>
              <a:t>• </a:t>
            </a:r>
            <a:r>
              <a:rPr sz="1200" b="0" i="0">
                <a:solidFill>
                  <a:srgbClr val="0B2545"/>
                </a:solidFill>
                <a:latin typeface="Arial"/>
              </a:rPr>
              <a:t>Blink-signature hard gate: a star scores zero — fooled 0 times in 64 runs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E7C99"/>
                </a:solidFill>
                <a:latin typeface="Arial"/>
              </a:rPr>
              <a:t>• </a:t>
            </a:r>
            <a:r>
              <a:rPr sz="1200" b="0" i="0">
                <a:solidFill>
                  <a:srgbClr val="0B2545"/>
                </a:solidFill>
                <a:latin typeface="Arial"/>
              </a:rPr>
              <a:t>Smith predictor cancels the measured 40 ms delay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E7C99"/>
                </a:solidFill>
                <a:latin typeface="Arial"/>
              </a:rPr>
              <a:t>• </a:t>
            </a:r>
            <a:r>
              <a:rPr sz="1200" b="0" i="0">
                <a:solidFill>
                  <a:srgbClr val="0B2545"/>
                </a:solidFill>
                <a:latin typeface="Arial"/>
              </a:rPr>
              <a:t>Dual-model IMM filter adapts to manoeuvres in ~0.3 s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384048" y="5577840"/>
            <a:ext cx="11430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50" b="1" i="0">
                <a:solidFill>
                  <a:srgbClr val="0B2545"/>
                </a:solidFill>
                <a:latin typeface="Arial"/>
              </a:rPr>
              <a:t>Worst case across all 64 randomised runs:  </a:t>
            </a:r>
            <a:r>
              <a:rPr sz="1150" b="0" i="0">
                <a:solidFill>
                  <a:srgbClr val="0B2545"/>
                </a:solidFill>
                <a:latin typeface="Arial"/>
              </a:rPr>
              <a:t>a 0.53×-dim beacon under 1.74× turbulence still acquired in 2.8 s and held 91.7% lock. Every number regenerates from one command — fully reproducible.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1755648" y="914400"/>
            <a:ext cx="10058400" cy="6035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1050" b="0" i="1">
                <a:solidFill>
                  <a:srgbClr val="5A6472"/>
                </a:solidFill>
                <a:latin typeface="Arial"/>
              </a:rPr>
              <a:t>Potential impact on the target audience</a:t>
            </a: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1050" b="0" i="1">
                <a:solidFill>
                  <a:srgbClr val="5A6472"/>
                </a:solidFill>
                <a:latin typeface="Arial"/>
              </a:rPr>
              <a:t>Benefits of the solution (social, economic, environmental, etc.)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B2545"/>
          </a:solidFill>
          <a:ln w="15875">
            <a:solidFill>
              <a:srgbClr val="0E7C99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ZeroDrift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384048" y="1645920"/>
            <a:ext cx="5577840" cy="1609344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/>
            <a:r>
              <a:rPr sz="1300" b="1" i="0">
                <a:solidFill>
                  <a:srgbClr val="0B2545"/>
                </a:solidFill>
                <a:latin typeface="Arial"/>
              </a:rPr>
              <a:t>STRATEGIC</a:t>
            </a:r>
          </a:p>
          <a:p>
            <a:pPr algn="l">
              <a:spcBef>
                <a:spcPts val="300"/>
              </a:spcBef>
            </a:pPr>
            <a:r>
              <a:rPr sz="1150" b="0" i="0">
                <a:solidFill>
                  <a:srgbClr val="0B2545"/>
                </a:solidFill>
                <a:latin typeface="Arial"/>
              </a:rPr>
              <a:t>Advances India's next-generation space &amp; defence communications — FSOC pointing algorithms developed sovereignly, without importing optical test benches.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6163056" y="1645920"/>
            <a:ext cx="5577840" cy="1609344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/>
            <a:r>
              <a:rPr sz="1300" b="1" i="0">
                <a:solidFill>
                  <a:srgbClr val="1F8A5B"/>
                </a:solidFill>
                <a:latin typeface="Arial"/>
              </a:rPr>
              <a:t>ECONOMIC</a:t>
            </a:r>
          </a:p>
          <a:p>
            <a:pPr algn="l">
              <a:spcBef>
                <a:spcPts val="300"/>
              </a:spcBef>
            </a:pPr>
            <a:r>
              <a:rPr sz="1150" b="0" i="0">
                <a:solidFill>
                  <a:srgbClr val="0B2545"/>
                </a:solidFill>
                <a:latin typeface="Arial"/>
              </a:rPr>
              <a:t>A laptop replaces lakhs of rupees of cameras, gimbals and optics — the entire develop–test–validate cycle for FSOC pointing runs in pure software, at zero recurring cost.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384048" y="3401568"/>
            <a:ext cx="5577840" cy="1609344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/>
            <a:r>
              <a:rPr sz="1300" b="1" i="0">
                <a:solidFill>
                  <a:srgbClr val="0E7C99"/>
                </a:solidFill>
                <a:latin typeface="Arial"/>
              </a:rPr>
              <a:t>RESEARCH &amp; EDUCATION</a:t>
            </a:r>
          </a:p>
          <a:p>
            <a:pPr algn="l">
              <a:spcBef>
                <a:spcPts val="300"/>
              </a:spcBef>
            </a:pPr>
            <a:r>
              <a:rPr sz="1150" b="0" i="0">
                <a:solidFill>
                  <a:srgbClr val="0B2545"/>
                </a:solidFill>
                <a:latin typeface="Arial"/>
              </a:rPr>
              <a:t>Any student or ISRO lab can develop, test and compare PAT algorithms instantly — reproducible scenarios, honest ground-truth scoring, open source.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6163056" y="3401568"/>
            <a:ext cx="5577840" cy="1609344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/>
            <a:r>
              <a:rPr sz="1300" b="1" i="0">
                <a:solidFill>
                  <a:srgbClr val="B06A00"/>
                </a:solidFill>
                <a:latin typeface="Arial"/>
              </a:rPr>
              <a:t>SCALABLE &amp; GREEN</a:t>
            </a:r>
          </a:p>
          <a:p>
            <a:pPr algn="l">
              <a:spcBef>
                <a:spcPts val="300"/>
              </a:spcBef>
            </a:pPr>
            <a:r>
              <a:rPr sz="1150" b="0" i="0">
                <a:solidFill>
                  <a:srgbClr val="0B2545"/>
                </a:solidFill>
                <a:latin typeface="Arial"/>
              </a:rPr>
              <a:t>Same engine covers satellite, UAV, ground and maritime links. Pure software — no consumables, no lab energy, no e-waste in the development cycle.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384048" y="5285232"/>
            <a:ext cx="11430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200" b="1" i="0">
                <a:solidFill>
                  <a:srgbClr val="0B2545"/>
                </a:solidFill>
                <a:latin typeface="Arial"/>
              </a:rPr>
              <a:t>Target audience:  </a:t>
            </a:r>
            <a:r>
              <a:rPr sz="1200" b="0" i="0">
                <a:solidFill>
                  <a:srgbClr val="0B2545"/>
                </a:solidFill>
                <a:latin typeface="Arial"/>
              </a:rPr>
              <a:t>ISRO / IN-SPACe optical-communication teams, DRDO, IITs &amp; engineering colleges, and India's growing space-tech startups.</a:t>
            </a:r>
          </a:p>
          <a:p>
            <a:pPr>
              <a:spcAft>
                <a:spcPts val="500"/>
              </a:spcAft>
            </a:pPr>
            <a:r>
              <a:rPr sz="1200" b="1" i="0">
                <a:solidFill>
                  <a:srgbClr val="0B2545"/>
                </a:solidFill>
                <a:latin typeface="Arial"/>
              </a:rPr>
              <a:t>The number that matters:  </a:t>
            </a:r>
            <a:r>
              <a:rPr sz="1200" b="0" i="0">
                <a:solidFill>
                  <a:srgbClr val="0B2545"/>
                </a:solidFill>
                <a:latin typeface="Arial"/>
              </a:rPr>
              <a:t>on a tracked ISS pass our coarse stage + a modelled fine stage closes the optical link 99.3% of the time vs 14.7% without — measured, not asserted.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1755648" y="914400"/>
            <a:ext cx="100584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1050" b="0" i="1">
                <a:solidFill>
                  <a:srgbClr val="5A6472"/>
                </a:solidFill>
                <a:latin typeface="Arial"/>
              </a:rPr>
              <a:t>Details / Links of the reference and research work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B2545"/>
          </a:solidFill>
          <a:ln w="15875">
            <a:solidFill>
              <a:srgbClr val="0E7C99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ZeroDrift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TextBox 17410"/>
          <p:cNvSpPr txBox="1"/>
          <p:nvPr/>
        </p:nvSpPr>
        <p:spPr>
          <a:xfrm>
            <a:off x="384048" y="1517904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0B2545"/>
                </a:solidFill>
                <a:latin typeface="Arial"/>
              </a:rPr>
              <a:t>Research foundations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384048" y="1920240"/>
            <a:ext cx="557784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Kaymak et al.,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“A Survey on Acquisition, Tracking and Pointing Mechanisms for Mobile FSO,” IEEE Comm. Surveys &amp; Tutorials, 2018.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Kaushal &amp; Kaddoum,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“Optical Communication in Space: Challenges and Mitigation Techniques,” IEEE Comm. Surveys &amp; Tutorials, 2017.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Blackman &amp; Popoli,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Design and Analysis of Modern Tracking Systems — IMM filtering, CFAR detection, track management.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Bar-Shalom et al.,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Estimation with Applications to Tracking and Navigation — Kalman/IMM theory.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Smith, O.J.M.,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“Closer Control of Loops with Dead Time” — the Smith predictor, 1957.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Vallado &amp; Crawford,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“SGP4 Orbit Determination” — AIAA 2008; real ISS TLE propagation.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Andrews &amp; Phillips,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Laser Beam Propagation through Random Media — turbulence &amp; scintillation models.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6355080" y="1517904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0B2545"/>
                </a:solidFill>
                <a:latin typeface="Arial"/>
              </a:rPr>
              <a:t>Our work — open and verifiable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6355080" y="1920240"/>
            <a:ext cx="54864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Repository: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github.com/pranshukesavmishra/SIH-2026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Inside: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full source (5,000+ lines, documented) · 73 automated tests · 6 validated scenarios · Monte-Carlo campaign logs · technical report · user manual · demo video.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Reproducibility: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every figure in this deck regenerates from one command; every random draw is logged and replayable.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6355080" y="4206240"/>
            <a:ext cx="5486400" cy="1737360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Why ZeroDrift wins on this problem</a:t>
            </a:r>
          </a:p>
          <a:p>
            <a:pPr>
              <a:spcBef>
                <a:spcPts val="400"/>
              </a:spcBef>
            </a:pPr>
            <a:r>
              <a:rPr sz="1150" b="1" i="0">
                <a:solidFill>
                  <a:srgbClr val="7FD4A8"/>
                </a:solidFill>
                <a:latin typeface="Arial"/>
              </a:rPr>
              <a:t>✓  </a:t>
            </a:r>
            <a:r>
              <a:rPr sz="1150" b="0" i="0">
                <a:solidFill>
                  <a:srgbClr val="FFFFFF"/>
                </a:solidFill>
                <a:latin typeface="Arial"/>
              </a:rPr>
              <a:t>All six mandatory deliverables already exist today</a:t>
            </a:r>
          </a:p>
          <a:p>
            <a:pPr>
              <a:spcBef>
                <a:spcPts val="400"/>
              </a:spcBef>
            </a:pPr>
            <a:r>
              <a:rPr sz="1150" b="1" i="0">
                <a:solidFill>
                  <a:srgbClr val="7FD4A8"/>
                </a:solidFill>
                <a:latin typeface="Arial"/>
              </a:rPr>
              <a:t>✓  </a:t>
            </a:r>
            <a:r>
              <a:rPr sz="1150" b="0" i="0">
                <a:solidFill>
                  <a:srgbClr val="FFFFFF"/>
                </a:solidFill>
                <a:latin typeface="Arial"/>
              </a:rPr>
              <a:t>Judged numbers, honestly measured against hidden ground truth</a:t>
            </a:r>
          </a:p>
          <a:p>
            <a:pPr>
              <a:spcBef>
                <a:spcPts val="400"/>
              </a:spcBef>
            </a:pPr>
            <a:r>
              <a:rPr sz="1150" b="1" i="0">
                <a:solidFill>
                  <a:srgbClr val="7FD4A8"/>
                </a:solidFill>
                <a:latin typeface="Arial"/>
              </a:rPr>
              <a:t>✓  </a:t>
            </a:r>
            <a:r>
              <a:rPr sz="1150" b="0" i="0">
                <a:solidFill>
                  <a:srgbClr val="FFFFFF"/>
                </a:solidFill>
                <a:latin typeface="Arial"/>
              </a:rPr>
              <a:t>AI where it earns its place — benchmarked against classical methods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3" name="Round Diagonal Corner Rectangle 2"/>
          <p:cNvSpPr/>
          <p:nvPr/>
        </p:nvSpPr>
        <p:spPr>
          <a:xfrm>
            <a:off x="0" y="1791032"/>
            <a:ext cx="12192000" cy="4319200"/>
          </a:xfrm>
          <a:prstGeom prst="round2DiagRect">
            <a:avLst/>
          </a:prstGeom>
          <a:solidFill>
            <a:schemeClr val="accent1">
              <a:lumMod val="20000"/>
              <a:lumOff val="80000"/>
            </a:schemeClr>
          </a:solidFill>
          <a:ln w="381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Google Shape;100;p3"/>
          <p:cNvSpPr txBox="1"/>
          <p:nvPr/>
        </p:nvSpPr>
        <p:spPr>
          <a:xfrm>
            <a:off x="367832" y="1915454"/>
            <a:ext cx="11764736" cy="4070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514350" marR="0" lvl="0" indent="-51435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Kindly keep the maximum slides limit up to six </a:t>
            </a: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(6). 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 Including the </a:t>
            </a: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title slide)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Try to avoid paragraphs and post your idea in points /diagrams / Infographics /pictures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Keep your explanation precise and easy to understand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Idea should be unique and novel.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can only use provided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template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for making the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PPT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without changing the idea details pointers (mentioned in previous slides).</a:t>
            </a: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need to save the file in PDF and upload the same on portal. No PPT, Word Doc or any other format will be supported.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349885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0" marR="0" lvl="0" indent="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Note - You can delete this slide (Important Pointers) when you upload the details of your idea on SIH portal.</a:t>
            </a:r>
            <a:endParaRPr b="1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marR="0" lvl="1" indent="-316230" algn="just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sz="2000"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393371" y="107066"/>
            <a:ext cx="8410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IMPORTANT INSTRUCTIONS</a:t>
            </a:r>
            <a:endParaRPr lang="en-IN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2343" y="1181900"/>
            <a:ext cx="9557657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Please ensure below pointers are met while submitting the Idea PPT:</a:t>
            </a:r>
            <a:endParaRPr lang="en-IN" b="1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0844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