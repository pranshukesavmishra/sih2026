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9326880" cy="2076450"/>
          </a:xfrm>
        </p:spPr>
        <p:txBody>
          <a:bodyPr/>
          <a:lstStyle/>
          <a:p>
            <a:r>
              <a:rPr lang="en-US" sz="34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34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ID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26169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Problem Statement Title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AI-Based Virtual Camera Tracking System for Coarse Alignment of Mobile FSOC Terminals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Theme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Smart Automation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PS Category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Software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ID –</a:t>
            </a:r>
            <a:r>
              <a:rPr sz="1500" b="0" i="0">
                <a:solidFill>
                  <a:srgbClr val="0E7C99"/>
                </a:solidFill>
                <a:latin typeface="Arial"/>
              </a:rPr>
              <a:t>  —</a:t>
            </a:r>
          </a:p>
          <a:p>
            <a:pPr marL="285750" indent="-285750" algn="just">
              <a:lnSpc>
                <a:spcPct val="200000"/>
              </a:lnSpc>
              <a:spcAft>
                <a:spcPts val="700"/>
              </a:spcAft>
              <a:buFont typeface="Arial" panose="020B0604020202020204" pitchFamily="34" charset="0"/>
              <a:buChar char="•"/>
            </a:pPr>
            <a:r>
              <a:rPr sz="1500" b="1" i="0">
                <a:solidFill>
                  <a:srgbClr val="0B2545"/>
                </a:solidFill>
                <a:latin typeface="Arial"/>
              </a:rPr>
              <a:t>Team Name –</a:t>
            </a:r>
            <a:r>
              <a:rPr sz="1500" b="1" i="0">
                <a:solidFill>
                  <a:srgbClr val="0E7C99"/>
                </a:solidFill>
                <a:latin typeface="Arial"/>
              </a:rPr>
              <a:t>  ZeroDrift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8" name="Picture 37" descr="logo_ban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97880" y="5742432"/>
            <a:ext cx="2251538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6035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spcAft>
                <a:spcPts val="0"/>
              </a:spcAft>
              <a:buFont typeface="Wingdings" panose="05000000000000000000" pitchFamily="2" charset="2"/>
              <a:buChar char="v"/>
            </a:pPr>
            <a:r>
              <a:rPr sz="950" b="0" i="1">
                <a:solidFill>
                  <a:srgbClr val="5A6472"/>
                </a:solidFill>
                <a:latin typeface="Arial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Detailed explanation of the proposed solution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How it addresses the problem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3" name="Picture 15362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384048" y="1865376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800" b="1" i="0">
                <a:solidFill>
                  <a:srgbClr val="0E7C99"/>
                </a:solidFill>
                <a:latin typeface="Arial"/>
              </a:rPr>
              <a:t>The eyes and neck of a laser communication terminal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384048" y="2340864"/>
            <a:ext cx="630936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Complete virtual testbed: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physics-honest sky — turbulence (Greenwood-correlated), platform vibration, sensor noise, moving beacons on real LEO/UAV paths.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AI-assisted closed-loop tracker: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detects the beacon, identifies it, estimates motion, and steers a virtual pan-tilt camera to hold it in the FOV.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Addresses the problem exactly: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coarse-alignment algorithms developed and validated with zero optical hardware — ISRO's stated need.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Innovation: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beacon identified by its blink signature (hard gate — stars score 0), IMM motion filter, latency-compensating Smith predictor, from-scratch neural track verifier.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0B2545"/>
                </a:solidFill>
                <a:latin typeface="Arial"/>
              </a:rPr>
              <a:t>Not a concept — already built:  </a:t>
            </a:r>
            <a:r>
              <a:rPr sz="1300" b="0" i="0">
                <a:solidFill>
                  <a:srgbClr val="0B2545"/>
                </a:solidFill>
                <a:latin typeface="Arial"/>
              </a:rPr>
              <a:t>GUI console, standalone app, 73 automated tests, full performance reports — everything on this slide is measured, not projected.</a:t>
            </a:r>
          </a:p>
        </p:txBody>
      </p:sp>
      <p:pic>
        <p:nvPicPr>
          <p:cNvPr id="15367" name="Picture 15366" descr="gui_sh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1847088"/>
            <a:ext cx="4892040" cy="275177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5368" name="TextBox 15367"/>
          <p:cNvSpPr txBox="1"/>
          <p:nvPr/>
        </p:nvSpPr>
        <p:spPr>
          <a:xfrm>
            <a:off x="6903720" y="4846320"/>
            <a:ext cx="4892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Our console, live: locked on the beacon at 175 µrad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38404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1.1 s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acquisition time</a:t>
            </a:r>
          </a:p>
        </p:txBody>
      </p:sp>
      <p:sp>
        <p:nvSpPr>
          <p:cNvPr id="15370" name="Rounded Rectangle 15369"/>
          <p:cNvSpPr/>
          <p:nvPr/>
        </p:nvSpPr>
        <p:spPr>
          <a:xfrm>
            <a:off x="253288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98.8 %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lock retention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681728" y="5257800"/>
            <a:ext cx="2011680" cy="85953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0 / 64</a:t>
            </a:r>
          </a:p>
          <a:p>
            <a:pPr algn="ctr"/>
            <a:r>
              <a:rPr sz="950" b="0" i="0">
                <a:solidFill>
                  <a:srgbClr val="BFD7E4"/>
                </a:solidFill>
                <a:latin typeface="Arial"/>
              </a:rPr>
              <a:t>wrong-target locks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6903720" y="5257800"/>
            <a:ext cx="4892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Median pointing error </a:t>
            </a:r>
            <a:r>
              <a:rPr sz="1300" b="1" i="0">
                <a:solidFill>
                  <a:srgbClr val="0E7C99"/>
                </a:solidFill>
                <a:latin typeface="Arial"/>
              </a:rPr>
              <a:t>207 µrad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— beacon kept inside the field of view </a:t>
            </a:r>
            <a:r>
              <a:rPr sz="1300" b="1" i="0">
                <a:solidFill>
                  <a:srgbClr val="1F8A5B"/>
                </a:solidFill>
                <a:latin typeface="Arial"/>
              </a:rPr>
              <a:t>100%</a:t>
            </a:r>
            <a:r>
              <a:rPr sz="1200" b="0" i="0">
                <a:solidFill>
                  <a:srgbClr val="0B2545"/>
                </a:solidFill>
                <a:latin typeface="Arial"/>
              </a:rPr>
              <a:t> of the 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Technologies to be used (e.g. programming languages, frameworks, hardware)</a:t>
            </a:r>
          </a:p>
          <a:p>
            <a:pPr marL="342900" indent="-342900" algn="just"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950" b="0" i="1">
                <a:solidFill>
                  <a:srgbClr val="5A6472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84048" y="1645920"/>
            <a:ext cx="114300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B2545"/>
                </a:solidFill>
                <a:latin typeface="Arial"/>
              </a:rPr>
              <a:t>Stack: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Python 3.11 · NumPy · OpenCV · PySide6 + pyqtgraph GUI · SGP4 real orbits · from-scratch NumPy neural net · PyInstaller app · pytest (</a:t>
            </a:r>
            <a:r>
              <a:rPr sz="1250" b="1" i="0">
                <a:solidFill>
                  <a:srgbClr val="1F8A5B"/>
                </a:solidFill>
                <a:latin typeface="Arial"/>
              </a:rPr>
              <a:t>73 tests</a:t>
            </a:r>
            <a:r>
              <a:rPr sz="1250" b="0" i="0">
                <a:solidFill>
                  <a:srgbClr val="0B2545"/>
                </a:solidFill>
                <a:latin typeface="Arial"/>
              </a:rPr>
              <a:t>) · GitHub CI</a:t>
            </a:r>
          </a:p>
          <a:p>
            <a:r>
              <a:rPr sz="1100" b="0" i="1">
                <a:solidFill>
                  <a:srgbClr val="5A6472"/>
                </a:solidFill>
                <a:latin typeface="Arial"/>
              </a:rPr>
              <a:t>100% open source — zero licensing cost, runs on any laptop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84048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WORLD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sky · stars · clutter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turbulence · vibration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2121408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2263139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DETECT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top-hat + matched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filter + CFAR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4000500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4142231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IDENTIFY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blink signature gate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AI verifier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5879592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6021323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ESTIMATE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IMM Kalman filter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position + velocity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7758683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7900415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CONTROL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Smith predictor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+ feed-forward</a:t>
            </a:r>
          </a:p>
        </p:txBody>
      </p:sp>
      <p:sp>
        <p:nvSpPr>
          <p:cNvPr id="17423" name="Right Arrow 17422"/>
          <p:cNvSpPr/>
          <p:nvPr/>
        </p:nvSpPr>
        <p:spPr>
          <a:xfrm>
            <a:off x="9637776" y="2852928"/>
            <a:ext cx="169164" cy="164592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4" name="Rounded Rectangle 17423"/>
          <p:cNvSpPr/>
          <p:nvPr/>
        </p:nvSpPr>
        <p:spPr>
          <a:xfrm>
            <a:off x="9779507" y="2395728"/>
            <a:ext cx="1755648" cy="1078992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150" b="1" i="0">
                <a:solidFill>
                  <a:srgbClr val="FFFFFF"/>
                </a:solidFill>
                <a:latin typeface="Arial"/>
              </a:rPr>
              <a:t>VIRTUAL GIMBAL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slew limits · latency</a:t>
            </a:r>
          </a:p>
          <a:p>
            <a:pPr algn="ctr"/>
            <a:r>
              <a:rPr sz="850" b="0" i="0">
                <a:solidFill>
                  <a:srgbClr val="D5E3EC"/>
                </a:solidFill>
                <a:latin typeface="Arial"/>
              </a:rPr>
              <a:t>encoder noise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384048" y="3529584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closed loop at the camera’s 30 frames per second — real time on a normal laptop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384048" y="3895344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0B2545"/>
                </a:solidFill>
                <a:latin typeface="Arial"/>
              </a:rPr>
              <a:t>Acquisition state machine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384048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17428" name="Right Arrow 17427"/>
          <p:cNvSpPr/>
          <p:nvPr/>
        </p:nvSpPr>
        <p:spPr>
          <a:xfrm>
            <a:off x="1709928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1865376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ACQUIRE</a:t>
            </a:r>
          </a:p>
        </p:txBody>
      </p:sp>
      <p:sp>
        <p:nvSpPr>
          <p:cNvPr id="17430" name="Right Arrow 17429"/>
          <p:cNvSpPr/>
          <p:nvPr/>
        </p:nvSpPr>
        <p:spPr>
          <a:xfrm>
            <a:off x="3191256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3346704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TRACK</a:t>
            </a:r>
          </a:p>
        </p:txBody>
      </p:sp>
      <p:sp>
        <p:nvSpPr>
          <p:cNvPr id="17432" name="Right Arrow 17431"/>
          <p:cNvSpPr/>
          <p:nvPr/>
        </p:nvSpPr>
        <p:spPr>
          <a:xfrm>
            <a:off x="4672584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3" name="Rounded Rectangle 17432"/>
          <p:cNvSpPr/>
          <p:nvPr/>
        </p:nvSpPr>
        <p:spPr>
          <a:xfrm>
            <a:off x="4828032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COAST</a:t>
            </a:r>
          </a:p>
        </p:txBody>
      </p:sp>
      <p:sp>
        <p:nvSpPr>
          <p:cNvPr id="17434" name="Right Arrow 17433"/>
          <p:cNvSpPr/>
          <p:nvPr/>
        </p:nvSpPr>
        <p:spPr>
          <a:xfrm>
            <a:off x="6153912" y="4352544"/>
            <a:ext cx="155448" cy="128016"/>
          </a:xfrm>
          <a:prstGeom prst="rightArrow">
            <a:avLst/>
          </a:prstGeom>
          <a:solidFill>
            <a:srgbClr val="5A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35" name="Rounded Rectangle 17434"/>
          <p:cNvSpPr/>
          <p:nvPr/>
        </p:nvSpPr>
        <p:spPr>
          <a:xfrm>
            <a:off x="6309360" y="4187952"/>
            <a:ext cx="1325880" cy="457200"/>
          </a:xfrm>
          <a:prstGeom prst="roundRect">
            <a:avLst>
              <a:gd name="adj" fmla="val 6000"/>
            </a:avLst>
          </a:prstGeom>
          <a:solidFill>
            <a:srgbClr val="9C2E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050" b="1" i="0">
                <a:solidFill>
                  <a:srgbClr val="FFFFFF"/>
                </a:solidFill>
                <a:latin typeface="Arial"/>
              </a:rPr>
              <a:t>REACQUIRE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384048" y="4718304"/>
            <a:ext cx="73152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/>
            </a:r>
            <a:r>
              <a:rPr sz="1100" b="0" i="0">
                <a:solidFill>
                  <a:srgbClr val="0B2545"/>
                </a:solidFill>
                <a:latin typeface="Arial"/>
              </a:rPr>
              <a:t>Spiral search over the uncertainty cone → lock → coast through beacon blinks → automatic recovery. Verified: recovers the true beacon even when started 5° off-target among decoys.</a:t>
            </a:r>
          </a:p>
        </p:txBody>
      </p:sp>
      <p:pic>
        <p:nvPicPr>
          <p:cNvPr id="17437" name="Picture 17436" descr="vid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2127" y="3895344"/>
            <a:ext cx="3931920" cy="1887322"/>
          </a:xfrm>
          <a:prstGeom prst="rect">
            <a:avLst/>
          </a:prstGeom>
          <a:ln w="9525">
            <a:solidFill>
              <a:srgbClr val="5A6472"/>
            </a:solidFill>
          </a:ln>
        </p:spPr>
      </p:pic>
      <p:sp>
        <p:nvSpPr>
          <p:cNvPr id="17438" name="TextBox 17437"/>
          <p:cNvSpPr txBox="1"/>
          <p:nvPr/>
        </p:nvSpPr>
        <p:spPr>
          <a:xfrm>
            <a:off x="7882127" y="5833872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A6472"/>
                </a:solidFill>
                <a:latin typeface="Arial"/>
              </a:rPr>
              <a:t>Working prototype — tracking a satellite pass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4754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Strategies for overcoming these challenges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1F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FEASIBILITY — PROVEN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84048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Fully working today: 73/73 automated tests pass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64-run randomised Monte-Carlo campaign: 100% acquisition, zero wrong locks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Standalone Windows/Linux app builds in one click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1F8A5B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Runs faster than real time on a normal laptop — no GPU, no cloud, no dataset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4242816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B0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CHALLENGES &amp; RISKS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4242816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Heavy turbulence dims and shakes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Bright decoys / sun glints can mimic the beacon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Mount latency destabilises fast tracking loops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B06A00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Sharp UAV manoeuvres break simple trackers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101583" y="1810512"/>
            <a:ext cx="3657600" cy="457200"/>
          </a:xfrm>
          <a:prstGeom prst="roundRect">
            <a:avLst>
              <a:gd name="adj" fmla="val 6000"/>
            </a:avLst>
          </a:prstGeom>
          <a:solidFill>
            <a:srgbClr val="0E7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/>
            <a:r>
              <a:rPr sz="1300" b="1" i="0">
                <a:solidFill>
                  <a:srgbClr val="FFFFFF"/>
                </a:solidFill>
                <a:latin typeface="Arial"/>
              </a:rPr>
              <a:t>OUR STRATEGIES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8101583" y="2340864"/>
            <a:ext cx="3657600" cy="3017520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Coast-through-fade + automatic re-acquisition spiral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Blink-signature hard gate: a star scores zero — fooled 0 times in 64 runs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Smith predictor cancels the measured 40 ms delay</a:t>
            </a:r>
          </a:p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0E7C99"/>
                </a:solidFill>
                <a:latin typeface="Arial"/>
              </a:rPr>
              <a:t>•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Dual-model IMM filter adapts to manoeuvres in ~0.3 s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384048" y="5577840"/>
            <a:ext cx="11430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 i="0">
                <a:solidFill>
                  <a:srgbClr val="0B2545"/>
                </a:solidFill>
                <a:latin typeface="Arial"/>
              </a:rPr>
              <a:t>Worst case across all 64 randomised runs:  </a:t>
            </a:r>
            <a:r>
              <a:rPr sz="1150" b="0" i="0">
                <a:solidFill>
                  <a:srgbClr val="0B2545"/>
                </a:solidFill>
                <a:latin typeface="Arial"/>
              </a:rPr>
              <a:t>a 0.53×-dim beacon under 1.74× turbulence still acquired in 2.8 s and held 91.7% lock. Every number regenerates from one command — fully reproducible.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3291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84048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B2545"/>
                </a:solidFill>
                <a:latin typeface="Arial"/>
              </a:rPr>
              <a:t>STRATEGIC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Advances India's next-generation space &amp; defence communications — FSOC pointing algorithms developed sovereignly, without importing optical test benches.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63056" y="1645920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1F8A5B"/>
                </a:solidFill>
                <a:latin typeface="Arial"/>
              </a:rPr>
              <a:t>ECONOMIC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 laptop replaces lakhs of rupees of cameras, gimbals and optics — the entire develop–test–validate cycle for FSOC pointing runs in pure software, at zero recurring cost.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384048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0E7C99"/>
                </a:solidFill>
                <a:latin typeface="Arial"/>
              </a:rPr>
              <a:t>RESEARCH &amp; EDUCATION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Any student or ISRO lab can develop, test and compare PAT algorithms instantly — reproducible scenarios, honest ground-truth scoring, open source.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6163056" y="3401568"/>
            <a:ext cx="5577840" cy="1609344"/>
          </a:xfrm>
          <a:prstGeom prst="roundRect">
            <a:avLst>
              <a:gd name="adj" fmla="val 6000"/>
            </a:avLst>
          </a:prstGeom>
          <a:solidFill>
            <a:srgbClr val="EF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B06A00"/>
                </a:solidFill>
                <a:latin typeface="Arial"/>
              </a:rPr>
              <a:t>SCALABLE &amp; GREEN</a:t>
            </a:r>
          </a:p>
          <a:p>
            <a:pPr algn="l">
              <a:spcBef>
                <a:spcPts val="300"/>
              </a:spcBef>
            </a:pPr>
            <a:r>
              <a:rPr sz="1150" b="0" i="0">
                <a:solidFill>
                  <a:srgbClr val="0B2545"/>
                </a:solidFill>
                <a:latin typeface="Arial"/>
              </a:rPr>
              <a:t>Same engine covers satellite, UAV, ground and maritime links. Pure software — no consumables, no lab energy, no e-waste in the development cycle.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384048" y="5285232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00" b="1" i="0">
                <a:solidFill>
                  <a:srgbClr val="0B2545"/>
                </a:solidFill>
                <a:latin typeface="Arial"/>
              </a:rPr>
              <a:t>Target audience:  </a:t>
            </a:r>
            <a:r>
              <a:rPr sz="1200" b="0" i="0">
                <a:solidFill>
                  <a:srgbClr val="0B2545"/>
                </a:solidFill>
                <a:latin typeface="Arial"/>
              </a:rPr>
              <a:t>ISRO / IN-SPACe optical-communication teams, DRDO, IITs &amp; engineering colleges, and India's growing space-tech startups.</a:t>
            </a:r>
          </a:p>
          <a:p>
            <a:r>
              <a:rPr sz="1250" b="1" i="0">
                <a:solidFill>
                  <a:srgbClr val="0B2545"/>
                </a:solidFill>
                <a:latin typeface="Arial"/>
              </a:rPr>
              <a:t>The number that matters:  </a:t>
            </a:r>
            <a:r>
              <a:rPr sz="1250" b="0" i="0">
                <a:solidFill>
                  <a:srgbClr val="0B2545"/>
                </a:solidFill>
                <a:latin typeface="Arial"/>
              </a:rPr>
              <a:t>on a tracked ISS pass, coarse stage + modelled fine stage closes the optical link </a:t>
            </a:r>
            <a:r>
              <a:rPr sz="1400" b="1" i="0">
                <a:solidFill>
                  <a:srgbClr val="1F8A5B"/>
                </a:solidFill>
                <a:latin typeface="Arial"/>
              </a:rPr>
              <a:t>99.3%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of the time vs </a:t>
            </a:r>
            <a:r>
              <a:rPr sz="1400" b="1" i="0">
                <a:solidFill>
                  <a:srgbClr val="9C2E23"/>
                </a:solidFill>
                <a:latin typeface="Arial"/>
              </a:rPr>
              <a:t>14.7%</a:t>
            </a:r>
            <a:r>
              <a:rPr sz="1250" b="0" i="0">
                <a:solidFill>
                  <a:srgbClr val="0B2545"/>
                </a:solidFill>
                <a:latin typeface="Arial"/>
              </a:rPr>
              <a:t> without — measured, not asserted.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1755648" y="1170432"/>
            <a:ext cx="10058400" cy="2011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sz="950" b="0" i="1">
                <a:solidFill>
                  <a:srgbClr val="5A6472"/>
                </a:solidFill>
                <a:latin typeface="Arial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1" name="Picture 17410" descr="logo_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896" y="146304"/>
            <a:ext cx="841248" cy="841248"/>
          </a:xfrm>
          <a:prstGeom prst="rect">
            <a:avLst/>
          </a:prstGeom>
        </p:spPr>
      </p:pic>
      <p:sp>
        <p:nvSpPr>
          <p:cNvPr id="17412" name="TextBox 17411"/>
          <p:cNvSpPr txBox="1"/>
          <p:nvPr/>
        </p:nvSpPr>
        <p:spPr>
          <a:xfrm>
            <a:off x="1225296" y="365760"/>
            <a:ext cx="1463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E7C99"/>
                </a:solidFill>
                <a:latin typeface="Arial"/>
              </a:rPr>
              <a:t>ZERO</a:t>
            </a:r>
            <a:r>
              <a:rPr sz="1300" b="1" i="0">
                <a:solidFill>
                  <a:srgbClr val="0B2545"/>
                </a:solidFill>
                <a:latin typeface="Arial"/>
              </a:rPr>
              <a:t>DRIFT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384048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Research foundations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84048" y="1920240"/>
            <a:ext cx="55778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Kaymak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“A Survey on Acquisition, Tracking and Pointing Mechanisms for Mobile FSO,” IEEE Comm. Surveys &amp; Tutorials, 2018.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Kaushal &amp; Kaddoum,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“Optical Communication in Space: Challenges and Mitigation Techniques,” IEEE Comm. Surveys &amp; Tutorials, 2017.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Blackman &amp; Popoli,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Design and Analysis of Modern Tracking Systems — IMM filtering, CFAR detection, track management.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Bar-Shalom et al.,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Estimation with Applications to Tracking and Navigation — Kalman/IMM theory.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Smith, O.J.M.,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“Closer Control of Loops with Dead Time” — the Smith predictor, 1957.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Vallado &amp; Crawford,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“SGP4 Orbit Determination” — AIAA 2008; real ISS TLE propagation.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Andrews &amp; Phillips,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Laser Beam Propagation through Random Media — turbulence &amp; scintillation models.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355080" y="1517904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400" b="1" i="0">
                <a:solidFill>
                  <a:srgbClr val="0B2545"/>
                </a:solidFill>
                <a:latin typeface="Arial"/>
              </a:rPr>
              <a:t>Our work — open and verifiable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355080" y="1920240"/>
            <a:ext cx="54864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Repository: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github.com/pranshukesavmishra/SIH-2026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Inside: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full source (5,000+ lines, documented) · 73 automated tests · 6 validated scenarios · Monte-Carlo campaign logs · technical report · user manual · demo video.</a:t>
            </a:r>
          </a:p>
          <a:p>
            <a:pPr>
              <a:spcAft>
                <a:spcPts val="500"/>
              </a:spcAft>
            </a:pPr>
            <a:r>
              <a:rPr sz="1100" b="1" i="0">
                <a:solidFill>
                  <a:srgbClr val="0B2545"/>
                </a:solidFill>
                <a:latin typeface="Arial"/>
              </a:rPr>
              <a:t>Reproducibility:  </a:t>
            </a:r>
            <a:r>
              <a:rPr sz="1100" b="0" i="0">
                <a:solidFill>
                  <a:srgbClr val="0B2545"/>
                </a:solidFill>
                <a:latin typeface="Arial"/>
              </a:rPr>
              <a:t>every figure in this deck regenerates from one command; every random draw is logged and replayable.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6355080" y="4206240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73152" bIns="73152"/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Why ZeroDrift wins on this problem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All six mandatory deliverables already exist today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Judged numbers, honestly measured against hidden ground truth</a:t>
            </a:r>
          </a:p>
          <a:p>
            <a:pPr>
              <a:spcBef>
                <a:spcPts val="400"/>
              </a:spcBef>
            </a:pPr>
            <a:r>
              <a:rPr sz="1150" b="1" i="0">
                <a:solidFill>
                  <a:srgbClr val="7FD4A8"/>
                </a:solidFill>
                <a:latin typeface="Arial"/>
              </a:rPr>
              <a:t>✓  </a:t>
            </a:r>
            <a:r>
              <a:rPr sz="1150" b="0" i="0">
                <a:solidFill>
                  <a:srgbClr val="FFFFFF"/>
                </a:solidFill>
                <a:latin typeface="Arial"/>
              </a:rPr>
              <a:t>AI where it earns its place — benchmarked against classical methods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