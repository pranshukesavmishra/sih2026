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hyperlink" Target="https://github.com/pranshukesavmishra/SIH-2026" TargetMode="External"/><Relationship Id="rId12" Type="http://schemas.openxmlformats.org/officeDocument/2006/relationships/hyperlink" Target="https://pranshukesavmishra.github.io/SIH-2026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64515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490118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B2545"/>
                </a:solidFill>
                <a:latin typeface="Arial"/>
              </a:rPr>
              <a:t>Measured: </a:t>
            </a:r>
            <a:r>
              <a:rPr sz="1100" b="1" i="0">
                <a:solidFill>
                  <a:srgbClr val="0E7C99"/>
                </a:solidFill>
                <a:latin typeface="Arial"/>
              </a:rPr>
              <a:t>median 223 µrad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in lock · in-FOV </a:t>
            </a:r>
            <a:r>
              <a:rPr sz="11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of the pass</a:t>
            </a:r>
          </a:p>
        </p:txBody>
      </p:sp>
      <p:pic>
        <p:nvPicPr>
          <p:cNvPr id="15371" name="Picture 15370" descr="chart_converg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5138928"/>
            <a:ext cx="4892040" cy="107624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9105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B2545"/>
                </a:solidFill>
                <a:latin typeface="Arial"/>
              </a:rPr>
              <a:t>TECH STACK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751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CORE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77824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NP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371600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CV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901952" y="2249424"/>
            <a:ext cx="17647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Python 3.11 · NumPy · OpenCV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270662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INTERFACE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84048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Qt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77824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08176" y="2980944"/>
            <a:ext cx="22585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PySide6 console · pyqtgraph live plots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84048" y="34381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ORBITS · AI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84048" y="367588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SGP4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1042415" y="367588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572768" y="371246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real ISS TLEs · from-scratch neural verifier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4048" y="416966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QUALITY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40740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73✓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1042415" y="440740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572768" y="444398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pytest suite · GitHub Actions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84048" y="490118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SHIPPING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84048" y="513892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EXE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78992" y="5175503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PyInstaller one-click standalone app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84048" y="565099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1">
                <a:solidFill>
                  <a:srgbClr val="5A6472"/>
                </a:solidFill>
                <a:latin typeface="Arial"/>
              </a:rPr>
              <a:t>100% open source · zero licensing cost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794760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sky · stars · clutter · decoys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LEO / UAV trajectories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9.2 MPx / s of imagery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382512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CAMERA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pan-tilt gimbal model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slew limits · 40 ms latency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sensor noise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frames / s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970264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PERCEPTION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top-hat + matched filter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CFAR · sub-pixel centroid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AI verifier (own NN)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≈6 candidates / frame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970264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DECISION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multi-target tracker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blink-signature hard gate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IMM Kalman estimate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1 confirmed beacon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6382512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velocity feed-forward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spiral search states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commands / 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794760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OPERATOR OUTPUTS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live GUI console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auto performance report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demo video export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for judges &amp; operators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6080760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ight Arrow 17439"/>
          <p:cNvSpPr/>
          <p:nvPr/>
        </p:nvSpPr>
        <p:spPr>
          <a:xfrm>
            <a:off x="8668512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Down Arrow 17440"/>
          <p:cNvSpPr/>
          <p:nvPr/>
        </p:nvSpPr>
        <p:spPr>
          <a:xfrm>
            <a:off x="10049256" y="2834640"/>
            <a:ext cx="146304" cy="402336"/>
          </a:xfrm>
          <a:prstGeom prst="down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Left Arrow 17441"/>
          <p:cNvSpPr/>
          <p:nvPr/>
        </p:nvSpPr>
        <p:spPr>
          <a:xfrm>
            <a:off x="8668512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Left Arrow 17442"/>
          <p:cNvSpPr/>
          <p:nvPr/>
        </p:nvSpPr>
        <p:spPr>
          <a:xfrm>
            <a:off x="6080760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Up Arrow 17443"/>
          <p:cNvSpPr/>
          <p:nvPr/>
        </p:nvSpPr>
        <p:spPr>
          <a:xfrm>
            <a:off x="7461504" y="2834640"/>
            <a:ext cx="146304" cy="411479"/>
          </a:xfrm>
          <a:prstGeom prst="upArrow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7680960" y="2871216"/>
            <a:ext cx="1737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>
                <a:solidFill>
                  <a:srgbClr val="1F8A5B"/>
                </a:solidFill>
                <a:latin typeface="Arial"/>
              </a:rPr>
              <a:t>closed loop: 30 pointing commands / s</a:t>
            </a:r>
          </a:p>
        </p:txBody>
      </p:sp>
      <p:pic>
        <p:nvPicPr>
          <p:cNvPr id="17446" name="Picture 17445" descr="side_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8288" y="1737360"/>
            <a:ext cx="178760" cy="41605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3794760" y="462686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79476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509320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525780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51" name="Right Arrow 17450"/>
          <p:cNvSpPr/>
          <p:nvPr/>
        </p:nvSpPr>
        <p:spPr>
          <a:xfrm>
            <a:off x="655624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ounded Rectangle 17451"/>
          <p:cNvSpPr/>
          <p:nvPr/>
        </p:nvSpPr>
        <p:spPr>
          <a:xfrm>
            <a:off x="672084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53" name="Right Arrow 17452"/>
          <p:cNvSpPr/>
          <p:nvPr/>
        </p:nvSpPr>
        <p:spPr>
          <a:xfrm>
            <a:off x="801928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Rounded Rectangle 17453"/>
          <p:cNvSpPr/>
          <p:nvPr/>
        </p:nvSpPr>
        <p:spPr>
          <a:xfrm>
            <a:off x="818387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55" name="Right Arrow 17454"/>
          <p:cNvSpPr/>
          <p:nvPr/>
        </p:nvSpPr>
        <p:spPr>
          <a:xfrm>
            <a:off x="948232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Rounded Rectangle 17455"/>
          <p:cNvSpPr/>
          <p:nvPr/>
        </p:nvSpPr>
        <p:spPr>
          <a:xfrm>
            <a:off x="964691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3794760" y="5431536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One 33 ms cycle, measured: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307,200 px in → ≈6 CFAR candidates → 1 beacon confirmed → 1 command out, 14 ms used. Closed loop, real time on a normal laptop; recovers even from 5° off-target among decoys.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1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Live demo (hosted prototype):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pranshukesavmishra.github.io/SIH-2026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33467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Arial"/>
              </a:rPr>
              <a:t>Compared with existing approaches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6355080" y="3621024"/>
          <a:ext cx="5486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ZeroDrift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MATLAB sim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HW testbed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Zero hardware cost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Real-time closed loop + live console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Decoy &amp; blink-signature discrimination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Open source · one-command reproducible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</a:tbl>
          </a:graphicData>
        </a:graphic>
      </p:graphicFrame>
      <p:sp>
        <p:nvSpPr>
          <p:cNvPr id="17417" name="Rounded Rectangle 17416"/>
          <p:cNvSpPr/>
          <p:nvPr/>
        </p:nvSpPr>
        <p:spPr>
          <a:xfrm>
            <a:off x="6355080" y="4864608"/>
            <a:ext cx="5486400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