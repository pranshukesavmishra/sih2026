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8357687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hyperlink" Target="https://scholar.google.com/scholar?q=%22A+Survey+on+Acquisition+Tracking+and+Pointing+Mechanisms+for+Mobile+Free-Space+Optical+Communications%22" TargetMode="External"/><Relationship Id="rId5" Type="http://schemas.openxmlformats.org/officeDocument/2006/relationships/hyperlink" Target="https://scholar.google.com/scholar?q=%22Optical+Communication+in+Space+Challenges+and+Mitigation+Techniques%22" TargetMode="External"/><Relationship Id="rId6" Type="http://schemas.openxmlformats.org/officeDocument/2006/relationships/hyperlink" Target="https://scholar.google.com/scholar?q=%22Design+and+Analysis+of+Modern+Tracking+Systems+Blackman+Popoli%22" TargetMode="External"/><Relationship Id="rId7" Type="http://schemas.openxmlformats.org/officeDocument/2006/relationships/hyperlink" Target="https://scholar.google.com/scholar?q=%22Estimation+with+Applications+to+Tracking+and+Navigation+Bar-Shalom%22" TargetMode="External"/><Relationship Id="rId8" Type="http://schemas.openxmlformats.org/officeDocument/2006/relationships/hyperlink" Target="https://scholar.google.com/scholar?q=%22Closer+Control+of+Loops+with+Dead+Time+Smith%22" TargetMode="External"/><Relationship Id="rId9" Type="http://schemas.openxmlformats.org/officeDocument/2006/relationships/hyperlink" Target="https://scholar.google.com/scholar?q=%22SGP4+Orbit+Determination+Vallado+Crawford%22" TargetMode="External"/><Relationship Id="rId10" Type="http://schemas.openxmlformats.org/officeDocument/2006/relationships/hyperlink" Target="https://scholar.google.com/scholar?q=%22Laser+Beam+Propagation+through+Random+Media+Andrews+Phillips%22" TargetMode="External"/><Relationship Id="rId11" Type="http://schemas.openxmlformats.org/officeDocument/2006/relationships/hyperlink" Target="https://github.com/pranshukesavmishra/SIH-2026" TargetMode="External"/><Relationship Id="rId12" Type="http://schemas.openxmlformats.org/officeDocument/2006/relationships/hyperlink" Target="https://zerodrift-fsoc-pat.netlify.app/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9326880" cy="2076450"/>
          </a:xfrm>
        </p:spPr>
        <p:txBody>
          <a:bodyPr/>
          <a:lstStyle/>
          <a:p>
            <a:r>
              <a:rPr lang="en-US" sz="34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34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 algn="just">
              <a:lnSpc>
                <a:spcPct val="200000"/>
              </a:lnSpc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sz="1500" b="1" i="0">
                <a:solidFill>
                  <a:srgbClr val="0B2545"/>
                </a:solidFill>
                <a:latin typeface="Arial"/>
              </a:rPr>
              <a:t>Problem Statement ID –</a:t>
            </a:r>
            <a:r>
              <a:rPr sz="1500" b="1" i="0">
                <a:solidFill>
                  <a:srgbClr val="0E7C99"/>
                </a:solidFill>
                <a:latin typeface="Arial"/>
              </a:rPr>
              <a:t>  26169</a:t>
            </a:r>
          </a:p>
          <a:p>
            <a:pPr marL="285750" indent="-285750" algn="just">
              <a:lnSpc>
                <a:spcPct val="200000"/>
              </a:lnSpc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sz="1500" b="1" i="0">
                <a:solidFill>
                  <a:srgbClr val="0B2545"/>
                </a:solidFill>
                <a:latin typeface="Arial"/>
              </a:rPr>
              <a:t>Problem Statement Title –</a:t>
            </a:r>
            <a:r>
              <a:rPr sz="1500" b="0" i="0">
                <a:solidFill>
                  <a:srgbClr val="0E7C99"/>
                </a:solidFill>
                <a:latin typeface="Arial"/>
              </a:rPr>
              <a:t>  AI-Based Virtual Camera Tracking System for Coarse Alignment of Mobile FSOC Terminals</a:t>
            </a:r>
          </a:p>
          <a:p>
            <a:pPr marL="285750" indent="-285750" algn="just">
              <a:lnSpc>
                <a:spcPct val="200000"/>
              </a:lnSpc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sz="1500" b="1" i="0">
                <a:solidFill>
                  <a:srgbClr val="0B2545"/>
                </a:solidFill>
                <a:latin typeface="Arial"/>
              </a:rPr>
              <a:t>Theme –</a:t>
            </a:r>
            <a:r>
              <a:rPr sz="1500" b="0" i="0">
                <a:solidFill>
                  <a:srgbClr val="0E7C99"/>
                </a:solidFill>
                <a:latin typeface="Arial"/>
              </a:rPr>
              <a:t>  Smart Automation</a:t>
            </a:r>
          </a:p>
          <a:p>
            <a:pPr marL="285750" indent="-285750" algn="just">
              <a:lnSpc>
                <a:spcPct val="200000"/>
              </a:lnSpc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sz="1500" b="1" i="0">
                <a:solidFill>
                  <a:srgbClr val="0B2545"/>
                </a:solidFill>
                <a:latin typeface="Arial"/>
              </a:rPr>
              <a:t>PS Category –</a:t>
            </a:r>
            <a:r>
              <a:rPr sz="1500" b="0" i="0">
                <a:solidFill>
                  <a:srgbClr val="0E7C99"/>
                </a:solidFill>
                <a:latin typeface="Arial"/>
              </a:rPr>
              <a:t>  Software</a:t>
            </a:r>
          </a:p>
          <a:p>
            <a:pPr marL="285750" indent="-285750" algn="just">
              <a:lnSpc>
                <a:spcPct val="200000"/>
              </a:lnSpc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sz="1500" b="1" i="0">
                <a:solidFill>
                  <a:srgbClr val="0B2545"/>
                </a:solidFill>
                <a:latin typeface="Arial"/>
              </a:rPr>
              <a:t>Team ID –</a:t>
            </a:r>
            <a:r>
              <a:rPr sz="1500" b="0" i="0">
                <a:solidFill>
                  <a:srgbClr val="0E7C99"/>
                </a:solidFill>
                <a:latin typeface="Arial"/>
              </a:rPr>
              <a:t>  —</a:t>
            </a:r>
          </a:p>
          <a:p>
            <a:pPr marL="285750" indent="-285750" algn="just">
              <a:lnSpc>
                <a:spcPct val="200000"/>
              </a:lnSpc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sz="1500" b="1" i="0">
                <a:solidFill>
                  <a:srgbClr val="0B2545"/>
                </a:solidFill>
                <a:latin typeface="Arial"/>
              </a:rPr>
              <a:t>Team Name –</a:t>
            </a:r>
            <a:r>
              <a:rPr sz="1500" b="1" i="0">
                <a:solidFill>
                  <a:srgbClr val="0E7C99"/>
                </a:solidFill>
                <a:latin typeface="Arial"/>
              </a:rPr>
              <a:t>  ZeroDrift</a:t>
            </a:r>
            <a:endParaRPr lang="en-IN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38" name="Picture 37" descr="logo_bann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97880" y="5742432"/>
            <a:ext cx="2251538" cy="9601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/>
            </a:r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IDEA TITLE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1755648" y="1170432"/>
            <a:ext cx="10058400" cy="6035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>
              <a:spcAft>
                <a:spcPts val="0"/>
              </a:spcAft>
              <a:buFont typeface="Wingdings" panose="05000000000000000000" pitchFamily="2" charset="2"/>
              <a:buChar char="v"/>
            </a:pPr>
            <a:r>
              <a:rPr sz="950" b="0" i="1">
                <a:solidFill>
                  <a:srgbClr val="5A6472"/>
                </a:solidFill>
                <a:latin typeface="Arial"/>
              </a:rPr>
              <a:t>Proposed Solution (Describe your Idea/Solution/Prototype)</a:t>
            </a:r>
            <a:endParaRPr lang="en-US" sz="32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 marL="342900" indent="-342900" algn="just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sz="950" b="0" i="1">
                <a:solidFill>
                  <a:srgbClr val="5A6472"/>
                </a:solidFill>
                <a:latin typeface="Arial"/>
              </a:rPr>
              <a:t>Detailed explanation of the proposed solution</a:t>
            </a:r>
          </a:p>
          <a:p>
            <a:pPr marL="342900" indent="-342900" algn="just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sz="950" b="0" i="1">
                <a:solidFill>
                  <a:srgbClr val="5A6472"/>
                </a:solidFill>
                <a:latin typeface="Arial"/>
              </a:rPr>
              <a:t>How it addresses the problem</a:t>
            </a:r>
          </a:p>
          <a:p>
            <a:pPr marL="342900" indent="-342900" algn="just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sz="950" b="0" i="1">
                <a:solidFill>
                  <a:srgbClr val="5A6472"/>
                </a:solidFill>
                <a:latin typeface="Arial"/>
              </a:rPr>
              <a:t>Innovation and uniqueness of the solution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Team ZeroDrift · SIH 2026 · PS 26169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rgbClr val="0B2545"/>
          </a:solidFill>
          <a:ln w="15875">
            <a:solidFill>
              <a:srgbClr val="0E7C99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ZeroDrift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3" name="TextBox 15362"/>
          <p:cNvSpPr txBox="1"/>
          <p:nvPr/>
        </p:nvSpPr>
        <p:spPr>
          <a:xfrm>
            <a:off x="384048" y="1865376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 i="0">
                <a:solidFill>
                  <a:srgbClr val="0E7C99"/>
                </a:solidFill>
                <a:latin typeface="Arial"/>
              </a:rPr>
              <a:t>The eyes and neck of a laser communication terminal</a:t>
            </a:r>
          </a:p>
        </p:txBody>
      </p:sp>
      <p:sp>
        <p:nvSpPr>
          <p:cNvPr id="15364" name="TextBox 15363"/>
          <p:cNvSpPr txBox="1"/>
          <p:nvPr/>
        </p:nvSpPr>
        <p:spPr>
          <a:xfrm>
            <a:off x="384048" y="2340864"/>
            <a:ext cx="630936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300" b="1" i="0">
                <a:solidFill>
                  <a:srgbClr val="0B2545"/>
                </a:solidFill>
                <a:latin typeface="Arial"/>
              </a:rPr>
              <a:t>The problem, simply:  </a:t>
            </a:r>
            <a:r>
              <a:rPr sz="1300" b="0" i="0">
                <a:solidFill>
                  <a:srgbClr val="0B2545"/>
                </a:solidFill>
                <a:latin typeface="Arial"/>
              </a:rPr>
              <a:t>laser links beam huge data — but only while both terminals point at each other with hair-thin accuracy through shaking, wind and orbital motion. ISRO wants this ‘pointing brain’ proven in software, without costly optics.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0B2545"/>
                </a:solidFill>
                <a:latin typeface="Arial"/>
              </a:rPr>
              <a:t>Our solution:  </a:t>
            </a:r>
            <a:r>
              <a:rPr sz="1300" b="0" i="0">
                <a:solidFill>
                  <a:srgbClr val="0B2545"/>
                </a:solidFill>
                <a:latin typeface="Arial"/>
              </a:rPr>
              <a:t>a virtual test-range — a physics-true sky with stars, clutter, turbulence and a moving blinking beacon — and an AI-assisted tracker that finds it, proves its identity, and steers a virtual camera to keep it centred.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0B2545"/>
                </a:solidFill>
                <a:latin typeface="Arial"/>
              </a:rPr>
              <a:t>Why it never locks the wrong light:  </a:t>
            </a:r>
            <a:r>
              <a:rPr sz="1300" b="0" i="0">
                <a:solidFill>
                  <a:srgbClr val="0B2545"/>
                </a:solidFill>
                <a:latin typeface="Arial"/>
              </a:rPr>
              <a:t>the beacon blinks at an agreed 4 Hz. A star or sun-glint can be brighter, but it cannot blink right — impostors score zero and are rejected.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0B2545"/>
                </a:solidFill>
                <a:latin typeface="Arial"/>
              </a:rPr>
              <a:t>Smart where it matters:  </a:t>
            </a:r>
            <a:r>
              <a:rPr sz="1300" b="0" i="0">
                <a:solidFill>
                  <a:srgbClr val="0B2545"/>
                </a:solidFill>
                <a:latin typeface="Arial"/>
              </a:rPr>
              <a:t>predicts 40 ms ahead to cancel mount delay, rides through blink gaps on a motion model; a self-trained neural verifier double-checks every lock.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0B2545"/>
                </a:solidFill>
                <a:latin typeface="Arial"/>
              </a:rPr>
              <a:t>Already built:  </a:t>
            </a:r>
            <a:r>
              <a:rPr sz="1300" b="0" i="0">
                <a:solidFill>
                  <a:srgbClr val="0B2545"/>
                </a:solidFill>
                <a:latin typeface="Arial"/>
              </a:rPr>
              <a:t>GUI console, standalone app, hosted replay console, 73 automated tests — every number here is measured, not projected.</a:t>
            </a:r>
          </a:p>
        </p:txBody>
      </p:sp>
      <p:pic>
        <p:nvPicPr>
          <p:cNvPr id="15365" name="Picture 15364" descr="gui_shot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2028" y="1847088"/>
            <a:ext cx="4536337" cy="2743200"/>
          </a:xfrm>
          <a:prstGeom prst="rect">
            <a:avLst/>
          </a:prstGeom>
          <a:ln w="9525">
            <a:solidFill>
              <a:srgbClr val="5A6472"/>
            </a:solidFill>
          </a:ln>
        </p:spPr>
      </p:pic>
      <p:sp>
        <p:nvSpPr>
          <p:cNvPr id="15366" name="TextBox 15365"/>
          <p:cNvSpPr txBox="1"/>
          <p:nvPr/>
        </p:nvSpPr>
        <p:spPr>
          <a:xfrm>
            <a:off x="6903720" y="4645152"/>
            <a:ext cx="4892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5A6472"/>
                </a:solidFill>
                <a:latin typeface="Arial"/>
              </a:rPr>
              <a:t>Our console locked on the beacon — the same view the live demo link opens</a:t>
            </a:r>
          </a:p>
        </p:txBody>
      </p:sp>
      <p:sp>
        <p:nvSpPr>
          <p:cNvPr id="15367" name="Rounded Rectangle 15366"/>
          <p:cNvSpPr/>
          <p:nvPr/>
        </p:nvSpPr>
        <p:spPr>
          <a:xfrm>
            <a:off x="384048" y="5413248"/>
            <a:ext cx="2011680" cy="859536"/>
          </a:xfrm>
          <a:prstGeom prst="roundRect">
            <a:avLst>
              <a:gd name="adj" fmla="val 6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</a:rPr>
              <a:t>1.27 s</a:t>
            </a:r>
          </a:p>
          <a:p>
            <a:pPr algn="ctr"/>
            <a:r>
              <a:rPr sz="950" b="0" i="0">
                <a:solidFill>
                  <a:srgbClr val="BFD7E4"/>
                </a:solidFill>
                <a:latin typeface="Arial"/>
              </a:rPr>
              <a:t>acquisition time</a:t>
            </a:r>
          </a:p>
        </p:txBody>
      </p:sp>
      <p:sp>
        <p:nvSpPr>
          <p:cNvPr id="15368" name="Rounded Rectangle 15367"/>
          <p:cNvSpPr/>
          <p:nvPr/>
        </p:nvSpPr>
        <p:spPr>
          <a:xfrm>
            <a:off x="2532888" y="5413248"/>
            <a:ext cx="2011680" cy="859536"/>
          </a:xfrm>
          <a:prstGeom prst="roundRect">
            <a:avLst>
              <a:gd name="adj" fmla="val 6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</a:rPr>
              <a:t>98.3 %</a:t>
            </a:r>
          </a:p>
          <a:p>
            <a:pPr algn="ctr"/>
            <a:r>
              <a:rPr sz="950" b="0" i="0">
                <a:solidFill>
                  <a:srgbClr val="BFD7E4"/>
                </a:solidFill>
                <a:latin typeface="Arial"/>
              </a:rPr>
              <a:t>lock retention</a:t>
            </a:r>
          </a:p>
        </p:txBody>
      </p:sp>
      <p:sp>
        <p:nvSpPr>
          <p:cNvPr id="15369" name="Rounded Rectangle 15368"/>
          <p:cNvSpPr/>
          <p:nvPr/>
        </p:nvSpPr>
        <p:spPr>
          <a:xfrm>
            <a:off x="4681728" y="5413248"/>
            <a:ext cx="2011680" cy="859536"/>
          </a:xfrm>
          <a:prstGeom prst="roundRect">
            <a:avLst>
              <a:gd name="adj" fmla="val 6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</a:rPr>
              <a:t>0 / 64</a:t>
            </a:r>
          </a:p>
          <a:p>
            <a:pPr algn="ctr"/>
            <a:r>
              <a:rPr sz="950" b="0" i="0">
                <a:solidFill>
                  <a:srgbClr val="BFD7E4"/>
                </a:solidFill>
                <a:latin typeface="Arial"/>
              </a:rPr>
              <a:t>wrong-target locks</a:t>
            </a:r>
          </a:p>
        </p:txBody>
      </p:sp>
      <p:sp>
        <p:nvSpPr>
          <p:cNvPr id="15370" name="TextBox 15369"/>
          <p:cNvSpPr txBox="1"/>
          <p:nvPr/>
        </p:nvSpPr>
        <p:spPr>
          <a:xfrm>
            <a:off x="6903720" y="4901184"/>
            <a:ext cx="48920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0B2545"/>
                </a:solidFill>
                <a:latin typeface="Arial"/>
              </a:rPr>
              <a:t>Measured: </a:t>
            </a:r>
            <a:r>
              <a:rPr sz="1100" b="1" i="0">
                <a:solidFill>
                  <a:srgbClr val="0E7C99"/>
                </a:solidFill>
                <a:latin typeface="Arial"/>
              </a:rPr>
              <a:t>median 198 µrad</a:t>
            </a:r>
            <a:r>
              <a:rPr sz="1100" b="0" i="0">
                <a:solidFill>
                  <a:srgbClr val="0B2545"/>
                </a:solidFill>
                <a:latin typeface="Arial"/>
              </a:rPr>
              <a:t> in lock · in-FOV </a:t>
            </a:r>
            <a:r>
              <a:rPr sz="1100" b="1" i="0">
                <a:solidFill>
                  <a:srgbClr val="1F8A5B"/>
                </a:solidFill>
                <a:latin typeface="Arial"/>
              </a:rPr>
              <a:t>100%</a:t>
            </a:r>
            <a:r>
              <a:rPr sz="1100" b="0" i="0">
                <a:solidFill>
                  <a:srgbClr val="0B2545"/>
                </a:solidFill>
                <a:latin typeface="Arial"/>
              </a:rPr>
              <a:t> · the live-demo run</a:t>
            </a:r>
          </a:p>
        </p:txBody>
      </p:sp>
      <p:pic>
        <p:nvPicPr>
          <p:cNvPr id="15371" name="Picture 15370" descr="chart_convergenc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03720" y="5138928"/>
            <a:ext cx="4892040" cy="1076249"/>
          </a:xfrm>
          <a:prstGeom prst="rect">
            <a:avLst/>
          </a:prstGeom>
          <a:ln w="9525">
            <a:solidFill>
              <a:srgbClr val="D5DDE5"/>
            </a:solidFill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1755648" y="1170432"/>
            <a:ext cx="10058400" cy="3291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 algn="just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sz="950" b="0" i="1">
                <a:solidFill>
                  <a:srgbClr val="5A6472"/>
                </a:solidFill>
                <a:latin typeface="Arial"/>
              </a:rPr>
              <a:t>Technologies to be used (e.g. programming languages, frameworks, hardware)</a:t>
            </a:r>
          </a:p>
          <a:p>
            <a:pPr marL="342900" indent="-342900" algn="just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sz="950" b="0" i="1">
                <a:solidFill>
                  <a:srgbClr val="5A6472"/>
                </a:solidFill>
                <a:latin typeface="Arial"/>
              </a:rPr>
              <a:t>Methodology and process for implementation (Flow Charts/Images/ working prototype)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Team ZeroDrift · SIH 2026 · PS 26169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rgbClr val="0B2545"/>
          </a:solidFill>
          <a:ln w="15875">
            <a:solidFill>
              <a:srgbClr val="0E7C99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ZeroDrift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TextBox 17410"/>
          <p:cNvSpPr txBox="1"/>
          <p:nvPr/>
        </p:nvSpPr>
        <p:spPr>
          <a:xfrm>
            <a:off x="384048" y="1591056"/>
            <a:ext cx="30175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B2545"/>
                </a:solidFill>
                <a:latin typeface="Arial"/>
              </a:rPr>
              <a:t>TECH STACK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384048" y="1975104"/>
            <a:ext cx="3017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 i="0">
                <a:solidFill>
                  <a:srgbClr val="5A6472"/>
                </a:solidFill>
                <a:latin typeface="Arial"/>
              </a:rPr>
              <a:t>CORE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384048" y="2212848"/>
            <a:ext cx="402336" cy="329184"/>
          </a:xfrm>
          <a:prstGeom prst="roundRect">
            <a:avLst>
              <a:gd name="adj" fmla="val 6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73152" bIns="73152"/>
          <a:lstStyle/>
          <a:p>
            <a:pPr algn="ctr"/>
            <a:r>
              <a:rPr sz="950" b="1" i="0">
                <a:solidFill>
                  <a:srgbClr val="FFFFFF"/>
                </a:solidFill>
                <a:latin typeface="Arial"/>
              </a:rPr>
              <a:t>Py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877824" y="2212848"/>
            <a:ext cx="402336" cy="329184"/>
          </a:xfrm>
          <a:prstGeom prst="roundRect">
            <a:avLst>
              <a:gd name="adj" fmla="val 6000"/>
            </a:avLst>
          </a:prstGeom>
          <a:solidFill>
            <a:srgbClr val="0E7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73152" bIns="73152"/>
          <a:lstStyle/>
          <a:p>
            <a:pPr algn="ctr"/>
            <a:r>
              <a:rPr sz="950" b="1" i="0">
                <a:solidFill>
                  <a:srgbClr val="FFFFFF"/>
                </a:solidFill>
                <a:latin typeface="Arial"/>
              </a:rPr>
              <a:t>NP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1371600" y="2212848"/>
            <a:ext cx="402336" cy="329184"/>
          </a:xfrm>
          <a:prstGeom prst="roundRect">
            <a:avLst>
              <a:gd name="adj" fmla="val 6000"/>
            </a:avLst>
          </a:prstGeom>
          <a:solidFill>
            <a:srgbClr val="0E7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73152" bIns="73152"/>
          <a:lstStyle/>
          <a:p>
            <a:pPr algn="ctr"/>
            <a:r>
              <a:rPr sz="950" b="1" i="0">
                <a:solidFill>
                  <a:srgbClr val="FFFFFF"/>
                </a:solidFill>
                <a:latin typeface="Arial"/>
              </a:rPr>
              <a:t>CV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1901952" y="2249424"/>
            <a:ext cx="176479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50" b="0" i="0">
                <a:solidFill>
                  <a:srgbClr val="0B2545"/>
                </a:solidFill>
                <a:latin typeface="Arial"/>
              </a:rPr>
              <a:t>Python 3.11 · NumPy · OpenCV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384048" y="2706624"/>
            <a:ext cx="3017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 i="0">
                <a:solidFill>
                  <a:srgbClr val="5A6472"/>
                </a:solidFill>
                <a:latin typeface="Arial"/>
              </a:rPr>
              <a:t>INTERFACE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384048" y="2944368"/>
            <a:ext cx="402336" cy="329184"/>
          </a:xfrm>
          <a:prstGeom prst="roundRect">
            <a:avLst>
              <a:gd name="adj" fmla="val 6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73152" bIns="73152"/>
          <a:lstStyle/>
          <a:p>
            <a:pPr algn="ctr"/>
            <a:r>
              <a:rPr sz="950" b="1" i="0">
                <a:solidFill>
                  <a:srgbClr val="FFFFFF"/>
                </a:solidFill>
                <a:latin typeface="Arial"/>
              </a:rPr>
              <a:t>Qt</a:t>
            </a:r>
          </a:p>
        </p:txBody>
      </p:sp>
      <p:sp>
        <p:nvSpPr>
          <p:cNvPr id="17419" name="Rounded Rectangle 17418"/>
          <p:cNvSpPr/>
          <p:nvPr/>
        </p:nvSpPr>
        <p:spPr>
          <a:xfrm>
            <a:off x="877824" y="2944368"/>
            <a:ext cx="402336" cy="329184"/>
          </a:xfrm>
          <a:prstGeom prst="roundRect">
            <a:avLst>
              <a:gd name="adj" fmla="val 6000"/>
            </a:avLst>
          </a:prstGeom>
          <a:solidFill>
            <a:srgbClr val="0E7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73152" bIns="73152"/>
          <a:lstStyle/>
          <a:p>
            <a:pPr algn="ctr"/>
            <a:r>
              <a:rPr sz="950" b="1" i="0">
                <a:solidFill>
                  <a:srgbClr val="FFFFFF"/>
                </a:solidFill>
                <a:latin typeface="Arial"/>
              </a:rPr>
              <a:t>PG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1408176" y="2980944"/>
            <a:ext cx="225856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50" b="0" i="0">
                <a:solidFill>
                  <a:srgbClr val="0B2545"/>
                </a:solidFill>
                <a:latin typeface="Arial"/>
              </a:rPr>
              <a:t>PySide6 console · pyqtgraph live plots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384048" y="3438144"/>
            <a:ext cx="3017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 i="0">
                <a:solidFill>
                  <a:srgbClr val="5A6472"/>
                </a:solidFill>
                <a:latin typeface="Arial"/>
              </a:rPr>
              <a:t>ORBITS · AI</a:t>
            </a:r>
          </a:p>
        </p:txBody>
      </p:sp>
      <p:sp>
        <p:nvSpPr>
          <p:cNvPr id="17422" name="Rounded Rectangle 17421"/>
          <p:cNvSpPr/>
          <p:nvPr/>
        </p:nvSpPr>
        <p:spPr>
          <a:xfrm>
            <a:off x="384048" y="3675887"/>
            <a:ext cx="566928" cy="329184"/>
          </a:xfrm>
          <a:prstGeom prst="roundRect">
            <a:avLst>
              <a:gd name="adj" fmla="val 6000"/>
            </a:avLst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73152" bIns="73152"/>
          <a:lstStyle/>
          <a:p>
            <a:pPr algn="ctr"/>
            <a:r>
              <a:rPr sz="950" b="1" i="0">
                <a:solidFill>
                  <a:srgbClr val="FFFFFF"/>
                </a:solidFill>
                <a:latin typeface="Arial"/>
              </a:rPr>
              <a:t>SGP4</a:t>
            </a:r>
          </a:p>
        </p:txBody>
      </p:sp>
      <p:sp>
        <p:nvSpPr>
          <p:cNvPr id="17423" name="Rounded Rectangle 17422"/>
          <p:cNvSpPr/>
          <p:nvPr/>
        </p:nvSpPr>
        <p:spPr>
          <a:xfrm>
            <a:off x="1042415" y="3675887"/>
            <a:ext cx="402336" cy="329184"/>
          </a:xfrm>
          <a:prstGeom prst="roundRect">
            <a:avLst>
              <a:gd name="adj" fmla="val 6000"/>
            </a:avLst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73152" bIns="73152"/>
          <a:lstStyle/>
          <a:p>
            <a:pPr algn="ctr"/>
            <a:r>
              <a:rPr sz="950" b="1" i="0">
                <a:solidFill>
                  <a:srgbClr val="FFFFFF"/>
                </a:solidFill>
                <a:latin typeface="Arial"/>
              </a:rPr>
              <a:t>NN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1572768" y="3712463"/>
            <a:ext cx="209397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50" b="0" i="0">
                <a:solidFill>
                  <a:srgbClr val="0B2545"/>
                </a:solidFill>
                <a:latin typeface="Arial"/>
              </a:rPr>
              <a:t>real ISS TLEs · from-scratch neural verifier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384048" y="4169663"/>
            <a:ext cx="3017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 i="0">
                <a:solidFill>
                  <a:srgbClr val="5A6472"/>
                </a:solidFill>
                <a:latin typeface="Arial"/>
              </a:rPr>
              <a:t>QUALITY</a:t>
            </a:r>
          </a:p>
        </p:txBody>
      </p:sp>
      <p:sp>
        <p:nvSpPr>
          <p:cNvPr id="17426" name="Rounded Rectangle 17425"/>
          <p:cNvSpPr/>
          <p:nvPr/>
        </p:nvSpPr>
        <p:spPr>
          <a:xfrm>
            <a:off x="384048" y="4407407"/>
            <a:ext cx="566928" cy="329184"/>
          </a:xfrm>
          <a:prstGeom prst="roundRect">
            <a:avLst>
              <a:gd name="adj" fmla="val 6000"/>
            </a:avLst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73152" bIns="73152"/>
          <a:lstStyle/>
          <a:p>
            <a:pPr algn="ctr"/>
            <a:r>
              <a:rPr sz="950" b="1" i="0">
                <a:solidFill>
                  <a:srgbClr val="FFFFFF"/>
                </a:solidFill>
                <a:latin typeface="Arial"/>
              </a:rPr>
              <a:t>73✓</a:t>
            </a:r>
          </a:p>
        </p:txBody>
      </p:sp>
      <p:sp>
        <p:nvSpPr>
          <p:cNvPr id="17427" name="Rounded Rectangle 17426"/>
          <p:cNvSpPr/>
          <p:nvPr/>
        </p:nvSpPr>
        <p:spPr>
          <a:xfrm>
            <a:off x="1042415" y="4407407"/>
            <a:ext cx="402336" cy="329184"/>
          </a:xfrm>
          <a:prstGeom prst="roundRect">
            <a:avLst>
              <a:gd name="adj" fmla="val 6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73152" bIns="73152"/>
          <a:lstStyle/>
          <a:p>
            <a:pPr algn="ctr"/>
            <a:r>
              <a:rPr sz="950" b="1" i="0">
                <a:solidFill>
                  <a:srgbClr val="FFFFFF"/>
                </a:solidFill>
                <a:latin typeface="Arial"/>
              </a:rPr>
              <a:t>CI</a:t>
            </a:r>
          </a:p>
        </p:txBody>
      </p:sp>
      <p:sp>
        <p:nvSpPr>
          <p:cNvPr id="17428" name="TextBox 17427"/>
          <p:cNvSpPr txBox="1"/>
          <p:nvPr/>
        </p:nvSpPr>
        <p:spPr>
          <a:xfrm>
            <a:off x="1572768" y="4443983"/>
            <a:ext cx="209397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50" b="0" i="0">
                <a:solidFill>
                  <a:srgbClr val="0B2545"/>
                </a:solidFill>
                <a:latin typeface="Arial"/>
              </a:rPr>
              <a:t>pytest suite · GitHub Actions</a:t>
            </a:r>
          </a:p>
        </p:txBody>
      </p:sp>
      <p:sp>
        <p:nvSpPr>
          <p:cNvPr id="17429" name="TextBox 17428"/>
          <p:cNvSpPr txBox="1"/>
          <p:nvPr/>
        </p:nvSpPr>
        <p:spPr>
          <a:xfrm>
            <a:off x="384048" y="4901183"/>
            <a:ext cx="3017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 i="0">
                <a:solidFill>
                  <a:srgbClr val="5A6472"/>
                </a:solidFill>
                <a:latin typeface="Arial"/>
              </a:rPr>
              <a:t>SHIPPING</a:t>
            </a:r>
          </a:p>
        </p:txBody>
      </p:sp>
      <p:sp>
        <p:nvSpPr>
          <p:cNvPr id="17430" name="Rounded Rectangle 17429"/>
          <p:cNvSpPr/>
          <p:nvPr/>
        </p:nvSpPr>
        <p:spPr>
          <a:xfrm>
            <a:off x="384048" y="5138927"/>
            <a:ext cx="566928" cy="329184"/>
          </a:xfrm>
          <a:prstGeom prst="roundRect">
            <a:avLst>
              <a:gd name="adj" fmla="val 6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73152" bIns="73152"/>
          <a:lstStyle/>
          <a:p>
            <a:pPr algn="ctr"/>
            <a:r>
              <a:rPr sz="950" b="1" i="0">
                <a:solidFill>
                  <a:srgbClr val="FFFFFF"/>
                </a:solidFill>
                <a:latin typeface="Arial"/>
              </a:rPr>
              <a:t>EXE</a:t>
            </a:r>
          </a:p>
        </p:txBody>
      </p:sp>
      <p:sp>
        <p:nvSpPr>
          <p:cNvPr id="17431" name="TextBox 17430"/>
          <p:cNvSpPr txBox="1"/>
          <p:nvPr/>
        </p:nvSpPr>
        <p:spPr>
          <a:xfrm>
            <a:off x="1078992" y="5175503"/>
            <a:ext cx="25877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50" b="0" i="0">
                <a:solidFill>
                  <a:srgbClr val="0B2545"/>
                </a:solidFill>
                <a:latin typeface="Arial"/>
              </a:rPr>
              <a:t>PyInstaller one-click standalone app</a:t>
            </a:r>
          </a:p>
        </p:txBody>
      </p:sp>
      <p:sp>
        <p:nvSpPr>
          <p:cNvPr id="17432" name="TextBox 17431"/>
          <p:cNvSpPr txBox="1"/>
          <p:nvPr/>
        </p:nvSpPr>
        <p:spPr>
          <a:xfrm>
            <a:off x="384048" y="5650991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50" b="0" i="1">
                <a:solidFill>
                  <a:srgbClr val="5A6472"/>
                </a:solidFill>
                <a:latin typeface="Arial"/>
              </a:rPr>
              <a:t>100% open source · zero licensing cost</a:t>
            </a:r>
          </a:p>
        </p:txBody>
      </p:sp>
      <p:sp>
        <p:nvSpPr>
          <p:cNvPr id="17433" name="Rounded Rectangle 17432"/>
          <p:cNvSpPr/>
          <p:nvPr/>
        </p:nvSpPr>
        <p:spPr>
          <a:xfrm>
            <a:off x="3794760" y="1682496"/>
            <a:ext cx="2304288" cy="1133856"/>
          </a:xfrm>
          <a:prstGeom prst="roundRect">
            <a:avLst>
              <a:gd name="adj" fmla="val 6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VIRTUAL WORLD</a:t>
            </a:r>
          </a:p>
          <a:p>
            <a:pPr algn="ctr"/>
            <a:r>
              <a:rPr sz="800" b="0" i="0">
                <a:solidFill>
                  <a:srgbClr val="D5E3EC"/>
                </a:solidFill>
                <a:latin typeface="Arial"/>
              </a:rPr>
              <a:t>sky · stars · clutter · decoys</a:t>
            </a:r>
          </a:p>
          <a:p>
            <a:pPr algn="ctr"/>
            <a:r>
              <a:rPr sz="800" b="0" i="0">
                <a:solidFill>
                  <a:srgbClr val="D5E3EC"/>
                </a:solidFill>
                <a:latin typeface="Arial"/>
              </a:rPr>
              <a:t>turbulence · vibration</a:t>
            </a:r>
          </a:p>
          <a:p>
            <a:pPr algn="ctr"/>
            <a:r>
              <a:rPr sz="800" b="0" i="0">
                <a:solidFill>
                  <a:srgbClr val="D5E3EC"/>
                </a:solidFill>
                <a:latin typeface="Arial"/>
              </a:rPr>
              <a:t>LEO / UAV trajectories</a:t>
            </a:r>
          </a:p>
          <a:p>
            <a:pPr algn="ctr"/>
            <a:r>
              <a:rPr sz="800" b="1" i="0">
                <a:solidFill>
                  <a:srgbClr val="FFD97A"/>
                </a:solidFill>
                <a:latin typeface="Arial"/>
              </a:rPr>
              <a:t>→ 9.2 MPx / s of imagery</a:t>
            </a:r>
          </a:p>
        </p:txBody>
      </p:sp>
      <p:sp>
        <p:nvSpPr>
          <p:cNvPr id="17434" name="Rounded Rectangle 17433"/>
          <p:cNvSpPr/>
          <p:nvPr/>
        </p:nvSpPr>
        <p:spPr>
          <a:xfrm>
            <a:off x="6382512" y="1682496"/>
            <a:ext cx="2304288" cy="1133856"/>
          </a:xfrm>
          <a:prstGeom prst="roundRect">
            <a:avLst>
              <a:gd name="adj" fmla="val 6000"/>
            </a:avLst>
          </a:prstGeom>
          <a:solidFill>
            <a:srgbClr val="0E7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VIRTUAL CAMERA</a:t>
            </a:r>
          </a:p>
          <a:p>
            <a:pPr algn="ctr"/>
            <a:r>
              <a:rPr sz="800" b="0" i="0">
                <a:solidFill>
                  <a:srgbClr val="D5E3EC"/>
                </a:solidFill>
                <a:latin typeface="Arial"/>
              </a:rPr>
              <a:t>pan-tilt gimbal model</a:t>
            </a:r>
          </a:p>
          <a:p>
            <a:pPr algn="ctr"/>
            <a:r>
              <a:rPr sz="800" b="0" i="0">
                <a:solidFill>
                  <a:srgbClr val="D5E3EC"/>
                </a:solidFill>
                <a:latin typeface="Arial"/>
              </a:rPr>
              <a:t>slew limits · 40 ms latency</a:t>
            </a:r>
          </a:p>
          <a:p>
            <a:pPr algn="ctr"/>
            <a:r>
              <a:rPr sz="800" b="0" i="0">
                <a:solidFill>
                  <a:srgbClr val="D5E3EC"/>
                </a:solidFill>
                <a:latin typeface="Arial"/>
              </a:rPr>
              <a:t>sensor noise</a:t>
            </a:r>
          </a:p>
          <a:p>
            <a:pPr algn="ctr"/>
            <a:r>
              <a:rPr sz="800" b="1" i="0">
                <a:solidFill>
                  <a:srgbClr val="FFD97A"/>
                </a:solidFill>
                <a:latin typeface="Arial"/>
              </a:rPr>
              <a:t>→ 30 frames / s</a:t>
            </a:r>
          </a:p>
        </p:txBody>
      </p:sp>
      <p:sp>
        <p:nvSpPr>
          <p:cNvPr id="17435" name="Rounded Rectangle 17434"/>
          <p:cNvSpPr/>
          <p:nvPr/>
        </p:nvSpPr>
        <p:spPr>
          <a:xfrm>
            <a:off x="8970264" y="1682496"/>
            <a:ext cx="2304288" cy="1133856"/>
          </a:xfrm>
          <a:prstGeom prst="roundRect">
            <a:avLst>
              <a:gd name="adj" fmla="val 6000"/>
            </a:avLst>
          </a:prstGeom>
          <a:solidFill>
            <a:srgbClr val="0E7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PERCEPTION</a:t>
            </a:r>
          </a:p>
          <a:p>
            <a:pPr algn="ctr"/>
            <a:r>
              <a:rPr sz="800" b="0" i="0">
                <a:solidFill>
                  <a:srgbClr val="D5E3EC"/>
                </a:solidFill>
                <a:latin typeface="Arial"/>
              </a:rPr>
              <a:t>top-hat + matched filter</a:t>
            </a:r>
          </a:p>
          <a:p>
            <a:pPr algn="ctr"/>
            <a:r>
              <a:rPr sz="800" b="0" i="0">
                <a:solidFill>
                  <a:srgbClr val="D5E3EC"/>
                </a:solidFill>
                <a:latin typeface="Arial"/>
              </a:rPr>
              <a:t>CFAR · sub-pixel centroid</a:t>
            </a:r>
          </a:p>
          <a:p>
            <a:pPr algn="ctr"/>
            <a:r>
              <a:rPr sz="800" b="0" i="0">
                <a:solidFill>
                  <a:srgbClr val="D5E3EC"/>
                </a:solidFill>
                <a:latin typeface="Arial"/>
              </a:rPr>
              <a:t>AI verifier (own NN)</a:t>
            </a:r>
          </a:p>
          <a:p>
            <a:pPr algn="ctr"/>
            <a:r>
              <a:rPr sz="800" b="1" i="0">
                <a:solidFill>
                  <a:srgbClr val="FFD97A"/>
                </a:solidFill>
                <a:latin typeface="Arial"/>
              </a:rPr>
              <a:t>→ ≈6 candidates / frame</a:t>
            </a:r>
          </a:p>
        </p:txBody>
      </p:sp>
      <p:sp>
        <p:nvSpPr>
          <p:cNvPr id="17436" name="Rounded Rectangle 17435"/>
          <p:cNvSpPr/>
          <p:nvPr/>
        </p:nvSpPr>
        <p:spPr>
          <a:xfrm>
            <a:off x="8970264" y="3255264"/>
            <a:ext cx="2304288" cy="1133856"/>
          </a:xfrm>
          <a:prstGeom prst="roundRect">
            <a:avLst>
              <a:gd name="adj" fmla="val 6000"/>
            </a:avLst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DECISION</a:t>
            </a:r>
          </a:p>
          <a:p>
            <a:pPr algn="ctr"/>
            <a:r>
              <a:rPr sz="800" b="0" i="0">
                <a:solidFill>
                  <a:srgbClr val="D5E3EC"/>
                </a:solidFill>
                <a:latin typeface="Arial"/>
              </a:rPr>
              <a:t>multi-target tracker</a:t>
            </a:r>
          </a:p>
          <a:p>
            <a:pPr algn="ctr"/>
            <a:r>
              <a:rPr sz="800" b="0" i="0">
                <a:solidFill>
                  <a:srgbClr val="D5E3EC"/>
                </a:solidFill>
                <a:latin typeface="Arial"/>
              </a:rPr>
              <a:t>blink-signature hard gate</a:t>
            </a:r>
          </a:p>
          <a:p>
            <a:pPr algn="ctr"/>
            <a:r>
              <a:rPr sz="800" b="0" i="0">
                <a:solidFill>
                  <a:srgbClr val="D5E3EC"/>
                </a:solidFill>
                <a:latin typeface="Arial"/>
              </a:rPr>
              <a:t>IMM Kalman estimate</a:t>
            </a:r>
          </a:p>
          <a:p>
            <a:pPr algn="ctr"/>
            <a:r>
              <a:rPr sz="800" b="1" i="0">
                <a:solidFill>
                  <a:srgbClr val="FFD97A"/>
                </a:solidFill>
                <a:latin typeface="Arial"/>
              </a:rPr>
              <a:t>→ 1 confirmed beacon</a:t>
            </a:r>
          </a:p>
        </p:txBody>
      </p:sp>
      <p:sp>
        <p:nvSpPr>
          <p:cNvPr id="17437" name="Rounded Rectangle 17436"/>
          <p:cNvSpPr/>
          <p:nvPr/>
        </p:nvSpPr>
        <p:spPr>
          <a:xfrm>
            <a:off x="6382512" y="3255264"/>
            <a:ext cx="2304288" cy="1133856"/>
          </a:xfrm>
          <a:prstGeom prst="roundRect">
            <a:avLst>
              <a:gd name="adj" fmla="val 6000"/>
            </a:avLst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CONTROL</a:t>
            </a:r>
          </a:p>
          <a:p>
            <a:pPr algn="ctr"/>
            <a:r>
              <a:rPr sz="800" b="0" i="0">
                <a:solidFill>
                  <a:srgbClr val="D5E3EC"/>
                </a:solidFill>
                <a:latin typeface="Arial"/>
              </a:rPr>
              <a:t>Smith predictor</a:t>
            </a:r>
          </a:p>
          <a:p>
            <a:pPr algn="ctr"/>
            <a:r>
              <a:rPr sz="800" b="0" i="0">
                <a:solidFill>
                  <a:srgbClr val="D5E3EC"/>
                </a:solidFill>
                <a:latin typeface="Arial"/>
              </a:rPr>
              <a:t>velocity feed-forward</a:t>
            </a:r>
          </a:p>
          <a:p>
            <a:pPr algn="ctr"/>
            <a:r>
              <a:rPr sz="800" b="0" i="0">
                <a:solidFill>
                  <a:srgbClr val="D5E3EC"/>
                </a:solidFill>
                <a:latin typeface="Arial"/>
              </a:rPr>
              <a:t>spiral search states</a:t>
            </a:r>
          </a:p>
          <a:p>
            <a:pPr algn="ctr"/>
            <a:r>
              <a:rPr sz="800" b="1" i="0">
                <a:solidFill>
                  <a:srgbClr val="FFD97A"/>
                </a:solidFill>
                <a:latin typeface="Arial"/>
              </a:rPr>
              <a:t>→ 30 commands / s</a:t>
            </a:r>
          </a:p>
        </p:txBody>
      </p:sp>
      <p:sp>
        <p:nvSpPr>
          <p:cNvPr id="17438" name="Rounded Rectangle 17437"/>
          <p:cNvSpPr/>
          <p:nvPr/>
        </p:nvSpPr>
        <p:spPr>
          <a:xfrm>
            <a:off x="3794760" y="3255264"/>
            <a:ext cx="2304288" cy="1133856"/>
          </a:xfrm>
          <a:prstGeom prst="roundRect">
            <a:avLst>
              <a:gd name="adj" fmla="val 6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OPERATOR OUTPUTS</a:t>
            </a:r>
          </a:p>
          <a:p>
            <a:pPr algn="ctr"/>
            <a:r>
              <a:rPr sz="800" b="0" i="0">
                <a:solidFill>
                  <a:srgbClr val="D5E3EC"/>
                </a:solidFill>
                <a:latin typeface="Arial"/>
              </a:rPr>
              <a:t>live GUI console</a:t>
            </a:r>
          </a:p>
          <a:p>
            <a:pPr algn="ctr"/>
            <a:r>
              <a:rPr sz="800" b="0" i="0">
                <a:solidFill>
                  <a:srgbClr val="D5E3EC"/>
                </a:solidFill>
                <a:latin typeface="Arial"/>
              </a:rPr>
              <a:t>auto performance report</a:t>
            </a:r>
          </a:p>
          <a:p>
            <a:pPr algn="ctr"/>
            <a:r>
              <a:rPr sz="800" b="0" i="0">
                <a:solidFill>
                  <a:srgbClr val="D5E3EC"/>
                </a:solidFill>
                <a:latin typeface="Arial"/>
              </a:rPr>
              <a:t>demo video export</a:t>
            </a:r>
          </a:p>
          <a:p>
            <a:pPr algn="ctr"/>
            <a:r>
              <a:rPr sz="800" b="1" i="0">
                <a:solidFill>
                  <a:srgbClr val="FFD97A"/>
                </a:solidFill>
                <a:latin typeface="Arial"/>
              </a:rPr>
              <a:t>→ for judges &amp; operators</a:t>
            </a:r>
          </a:p>
        </p:txBody>
      </p:sp>
      <p:sp>
        <p:nvSpPr>
          <p:cNvPr id="17439" name="Right Arrow 17438"/>
          <p:cNvSpPr/>
          <p:nvPr/>
        </p:nvSpPr>
        <p:spPr>
          <a:xfrm>
            <a:off x="6080760" y="2176272"/>
            <a:ext cx="338328" cy="146304"/>
          </a:xfrm>
          <a:prstGeom prst="rightArrow">
            <a:avLst/>
          </a:prstGeom>
          <a:solidFill>
            <a:srgbClr val="5A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0" name="Right Arrow 17439"/>
          <p:cNvSpPr/>
          <p:nvPr/>
        </p:nvSpPr>
        <p:spPr>
          <a:xfrm>
            <a:off x="8668512" y="2176272"/>
            <a:ext cx="338328" cy="146304"/>
          </a:xfrm>
          <a:prstGeom prst="rightArrow">
            <a:avLst/>
          </a:prstGeom>
          <a:solidFill>
            <a:srgbClr val="5A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1" name="Down Arrow 17440"/>
          <p:cNvSpPr/>
          <p:nvPr/>
        </p:nvSpPr>
        <p:spPr>
          <a:xfrm>
            <a:off x="10049256" y="2834640"/>
            <a:ext cx="146304" cy="402336"/>
          </a:xfrm>
          <a:prstGeom prst="downArrow">
            <a:avLst/>
          </a:prstGeom>
          <a:solidFill>
            <a:srgbClr val="5A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2" name="Left Arrow 17441"/>
          <p:cNvSpPr/>
          <p:nvPr/>
        </p:nvSpPr>
        <p:spPr>
          <a:xfrm>
            <a:off x="8668512" y="3749039"/>
            <a:ext cx="338328" cy="146304"/>
          </a:xfrm>
          <a:prstGeom prst="leftArrow">
            <a:avLst/>
          </a:prstGeom>
          <a:solidFill>
            <a:srgbClr val="5A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3" name="Left Arrow 17442"/>
          <p:cNvSpPr/>
          <p:nvPr/>
        </p:nvSpPr>
        <p:spPr>
          <a:xfrm>
            <a:off x="6080760" y="3749039"/>
            <a:ext cx="338328" cy="146304"/>
          </a:xfrm>
          <a:prstGeom prst="leftArrow">
            <a:avLst/>
          </a:prstGeom>
          <a:solidFill>
            <a:srgbClr val="5A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4" name="Up Arrow 17443"/>
          <p:cNvSpPr/>
          <p:nvPr/>
        </p:nvSpPr>
        <p:spPr>
          <a:xfrm>
            <a:off x="7461504" y="2834640"/>
            <a:ext cx="146304" cy="411479"/>
          </a:xfrm>
          <a:prstGeom prst="upArrow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5" name="TextBox 17444"/>
          <p:cNvSpPr txBox="1"/>
          <p:nvPr/>
        </p:nvSpPr>
        <p:spPr>
          <a:xfrm>
            <a:off x="7680960" y="2871216"/>
            <a:ext cx="17373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1" i="0">
                <a:solidFill>
                  <a:srgbClr val="1F8A5B"/>
                </a:solidFill>
                <a:latin typeface="Arial"/>
              </a:rPr>
              <a:t>closed loop: 30 pointing commands / s</a:t>
            </a:r>
          </a:p>
        </p:txBody>
      </p:sp>
      <p:pic>
        <p:nvPicPr>
          <p:cNvPr id="17446" name="Picture 17445" descr="side_lab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48288" y="1737360"/>
            <a:ext cx="178760" cy="4160520"/>
          </a:xfrm>
          <a:prstGeom prst="rect">
            <a:avLst/>
          </a:prstGeom>
        </p:spPr>
      </p:pic>
      <p:sp>
        <p:nvSpPr>
          <p:cNvPr id="17447" name="TextBox 17446"/>
          <p:cNvSpPr txBox="1"/>
          <p:nvPr/>
        </p:nvSpPr>
        <p:spPr>
          <a:xfrm>
            <a:off x="3794760" y="4626864"/>
            <a:ext cx="2926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0B2545"/>
                </a:solidFill>
                <a:latin typeface="Arial"/>
              </a:rPr>
              <a:t>Acquisition state machine</a:t>
            </a:r>
          </a:p>
        </p:txBody>
      </p:sp>
      <p:sp>
        <p:nvSpPr>
          <p:cNvPr id="17448" name="Rounded Rectangle 17447"/>
          <p:cNvSpPr/>
          <p:nvPr/>
        </p:nvSpPr>
        <p:spPr>
          <a:xfrm>
            <a:off x="3794760" y="4882896"/>
            <a:ext cx="1298448" cy="384048"/>
          </a:xfrm>
          <a:prstGeom prst="roundRect">
            <a:avLst>
              <a:gd name="adj" fmla="val 6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950" b="1" i="0">
                <a:solidFill>
                  <a:srgbClr val="FFFFFF"/>
                </a:solidFill>
                <a:latin typeface="Arial"/>
              </a:rPr>
              <a:t>SEARCH</a:t>
            </a:r>
          </a:p>
        </p:txBody>
      </p:sp>
      <p:sp>
        <p:nvSpPr>
          <p:cNvPr id="17449" name="Right Arrow 17448"/>
          <p:cNvSpPr/>
          <p:nvPr/>
        </p:nvSpPr>
        <p:spPr>
          <a:xfrm>
            <a:off x="5093208" y="5010912"/>
            <a:ext cx="146304" cy="128016"/>
          </a:xfrm>
          <a:prstGeom prst="rightArrow">
            <a:avLst/>
          </a:prstGeom>
          <a:solidFill>
            <a:srgbClr val="5A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0" name="Rounded Rectangle 17449"/>
          <p:cNvSpPr/>
          <p:nvPr/>
        </p:nvSpPr>
        <p:spPr>
          <a:xfrm>
            <a:off x="5257800" y="4882896"/>
            <a:ext cx="1298448" cy="384048"/>
          </a:xfrm>
          <a:prstGeom prst="roundRect">
            <a:avLst>
              <a:gd name="adj" fmla="val 6000"/>
            </a:avLst>
          </a:prstGeom>
          <a:solidFill>
            <a:srgbClr val="B0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950" b="1" i="0">
                <a:solidFill>
                  <a:srgbClr val="FFFFFF"/>
                </a:solidFill>
                <a:latin typeface="Arial"/>
              </a:rPr>
              <a:t>ACQUIRE</a:t>
            </a:r>
          </a:p>
        </p:txBody>
      </p:sp>
      <p:sp>
        <p:nvSpPr>
          <p:cNvPr id="17451" name="Right Arrow 17450"/>
          <p:cNvSpPr/>
          <p:nvPr/>
        </p:nvSpPr>
        <p:spPr>
          <a:xfrm>
            <a:off x="6556248" y="5010912"/>
            <a:ext cx="146304" cy="128016"/>
          </a:xfrm>
          <a:prstGeom prst="rightArrow">
            <a:avLst/>
          </a:prstGeom>
          <a:solidFill>
            <a:srgbClr val="5A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2" name="Rounded Rectangle 17451"/>
          <p:cNvSpPr/>
          <p:nvPr/>
        </p:nvSpPr>
        <p:spPr>
          <a:xfrm>
            <a:off x="6720840" y="4882896"/>
            <a:ext cx="1298448" cy="384048"/>
          </a:xfrm>
          <a:prstGeom prst="roundRect">
            <a:avLst>
              <a:gd name="adj" fmla="val 6000"/>
            </a:avLst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950" b="1" i="0">
                <a:solidFill>
                  <a:srgbClr val="FFFFFF"/>
                </a:solidFill>
                <a:latin typeface="Arial"/>
              </a:rPr>
              <a:t>TRACK</a:t>
            </a:r>
          </a:p>
        </p:txBody>
      </p:sp>
      <p:sp>
        <p:nvSpPr>
          <p:cNvPr id="17453" name="Right Arrow 17452"/>
          <p:cNvSpPr/>
          <p:nvPr/>
        </p:nvSpPr>
        <p:spPr>
          <a:xfrm>
            <a:off x="8019288" y="5010912"/>
            <a:ext cx="146304" cy="128016"/>
          </a:xfrm>
          <a:prstGeom prst="rightArrow">
            <a:avLst/>
          </a:prstGeom>
          <a:solidFill>
            <a:srgbClr val="5A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4" name="Rounded Rectangle 17453"/>
          <p:cNvSpPr/>
          <p:nvPr/>
        </p:nvSpPr>
        <p:spPr>
          <a:xfrm>
            <a:off x="8183879" y="4882896"/>
            <a:ext cx="1298448" cy="384048"/>
          </a:xfrm>
          <a:prstGeom prst="roundRect">
            <a:avLst>
              <a:gd name="adj" fmla="val 6000"/>
            </a:avLst>
          </a:prstGeom>
          <a:solidFill>
            <a:srgbClr val="B0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950" b="1" i="0">
                <a:solidFill>
                  <a:srgbClr val="FFFFFF"/>
                </a:solidFill>
                <a:latin typeface="Arial"/>
              </a:rPr>
              <a:t>COAST</a:t>
            </a:r>
          </a:p>
        </p:txBody>
      </p:sp>
      <p:sp>
        <p:nvSpPr>
          <p:cNvPr id="17455" name="Right Arrow 17454"/>
          <p:cNvSpPr/>
          <p:nvPr/>
        </p:nvSpPr>
        <p:spPr>
          <a:xfrm>
            <a:off x="9482328" y="5010912"/>
            <a:ext cx="146304" cy="128016"/>
          </a:xfrm>
          <a:prstGeom prst="rightArrow">
            <a:avLst/>
          </a:prstGeom>
          <a:solidFill>
            <a:srgbClr val="5A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6" name="Rounded Rectangle 17455"/>
          <p:cNvSpPr/>
          <p:nvPr/>
        </p:nvSpPr>
        <p:spPr>
          <a:xfrm>
            <a:off x="9646919" y="4882896"/>
            <a:ext cx="1298448" cy="384048"/>
          </a:xfrm>
          <a:prstGeom prst="roundRect">
            <a:avLst>
              <a:gd name="adj" fmla="val 6000"/>
            </a:avLst>
          </a:prstGeom>
          <a:solidFill>
            <a:srgbClr val="9C2E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950" b="1" i="0">
                <a:solidFill>
                  <a:srgbClr val="FFFFFF"/>
                </a:solidFill>
                <a:latin typeface="Arial"/>
              </a:rPr>
              <a:t>REACQUIRE</a:t>
            </a:r>
          </a:p>
        </p:txBody>
      </p:sp>
      <p:sp>
        <p:nvSpPr>
          <p:cNvPr id="17457" name="TextBox 17456"/>
          <p:cNvSpPr txBox="1"/>
          <p:nvPr/>
        </p:nvSpPr>
        <p:spPr>
          <a:xfrm>
            <a:off x="3794760" y="5431536"/>
            <a:ext cx="7589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050" b="1" i="0">
                <a:solidFill>
                  <a:srgbClr val="0B2545"/>
                </a:solidFill>
                <a:latin typeface="Arial"/>
              </a:rPr>
              <a:t>One 33 ms cycle, measured:  </a:t>
            </a:r>
            <a:r>
              <a:rPr sz="1050" b="0" i="0">
                <a:solidFill>
                  <a:srgbClr val="0B2545"/>
                </a:solidFill>
                <a:latin typeface="Arial"/>
              </a:rPr>
              <a:t>307,200 px in → ≈6 CFAR candidates → 1 beacon confirmed → 1 command out, ≈20 ms used (p50, ISS-pass run). Closed loop, within the 33 ms frame budget on a normal laptop; recovers even from 5° off-target among decoys.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1755648" y="1170432"/>
            <a:ext cx="10058400" cy="4754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sz="950" b="0" i="1">
                <a:solidFill>
                  <a:srgbClr val="5A6472"/>
                </a:solidFill>
                <a:latin typeface="Arial"/>
              </a:rPr>
              <a:t>Analysis of the feasibility of the idea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sz="950" b="0" i="1">
                <a:solidFill>
                  <a:srgbClr val="5A6472"/>
                </a:solidFill>
                <a:latin typeface="Arial"/>
              </a:rPr>
              <a:t>Potential challenges and risks</a:t>
            </a: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sz="950" b="0" i="1">
                <a:solidFill>
                  <a:srgbClr val="5A6472"/>
                </a:solidFill>
                <a:latin typeface="Arial"/>
              </a:rPr>
              <a:t>Strategies for overcoming these challenges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Team ZeroDrift · SIH 2026 · PS 26169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rgbClr val="0B2545"/>
          </a:solidFill>
          <a:ln w="15875">
            <a:solidFill>
              <a:srgbClr val="0E7C99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ZeroDrift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384048" y="1810512"/>
            <a:ext cx="3657600" cy="457200"/>
          </a:xfrm>
          <a:prstGeom prst="roundRect">
            <a:avLst>
              <a:gd name="adj" fmla="val 6000"/>
            </a:avLst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FEASIBILITY — PROVEN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384048" y="2340864"/>
            <a:ext cx="3657600" cy="3017520"/>
          </a:xfrm>
          <a:prstGeom prst="roundRect">
            <a:avLst>
              <a:gd name="adj" fmla="val 6000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1F8A5B"/>
                </a:solidFill>
                <a:latin typeface="Arial"/>
              </a:rPr>
              <a:t>•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Fully working today: 73/73 automated tests pass</a:t>
            </a:r>
          </a:p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1F8A5B"/>
                </a:solidFill>
                <a:latin typeface="Arial"/>
              </a:rPr>
              <a:t>•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64-run randomised Monte-Carlo campaign: 100% acquisition, zero wrong locks</a:t>
            </a:r>
          </a:p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1F8A5B"/>
                </a:solidFill>
                <a:latin typeface="Arial"/>
              </a:rPr>
              <a:t>•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Standalone Windows/Linux app builds in one click</a:t>
            </a:r>
          </a:p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1F8A5B"/>
                </a:solidFill>
                <a:latin typeface="Arial"/>
              </a:rPr>
              <a:t>•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Tracker uses 8–21 ms of each 33 ms frame on two CPU cores — no GPU, no cloud, no dataset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4242816" y="1810512"/>
            <a:ext cx="3657600" cy="457200"/>
          </a:xfrm>
          <a:prstGeom prst="roundRect">
            <a:avLst>
              <a:gd name="adj" fmla="val 6000"/>
            </a:avLst>
          </a:prstGeom>
          <a:solidFill>
            <a:srgbClr val="B0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CHALLENGES &amp; RISKS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4242816" y="2340864"/>
            <a:ext cx="3657600" cy="3017520"/>
          </a:xfrm>
          <a:prstGeom prst="roundRect">
            <a:avLst>
              <a:gd name="adj" fmla="val 6000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B06A00"/>
                </a:solidFill>
                <a:latin typeface="Arial"/>
              </a:rPr>
              <a:t>•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Heavy turbulence dims and shakes the beacon</a:t>
            </a:r>
          </a:p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B06A00"/>
                </a:solidFill>
                <a:latin typeface="Arial"/>
              </a:rPr>
              <a:t>•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Bright decoys / sun glints can mimic the beacon</a:t>
            </a:r>
          </a:p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B06A00"/>
                </a:solidFill>
                <a:latin typeface="Arial"/>
              </a:rPr>
              <a:t>•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Mount latency destabilises fast tracking loops</a:t>
            </a:r>
          </a:p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B06A00"/>
                </a:solidFill>
                <a:latin typeface="Arial"/>
              </a:rPr>
              <a:t>•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Sharp UAV manoeuvres break simple trackers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8101583" y="1810512"/>
            <a:ext cx="3657600" cy="457200"/>
          </a:xfrm>
          <a:prstGeom prst="roundRect">
            <a:avLst>
              <a:gd name="adj" fmla="val 6000"/>
            </a:avLst>
          </a:prstGeom>
          <a:solidFill>
            <a:srgbClr val="0E7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OUR STRATEGIES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8101583" y="2340864"/>
            <a:ext cx="3657600" cy="3017520"/>
          </a:xfrm>
          <a:prstGeom prst="roundRect">
            <a:avLst>
              <a:gd name="adj" fmla="val 6000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0E7C99"/>
                </a:solidFill>
                <a:latin typeface="Arial"/>
              </a:rPr>
              <a:t>•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Coast-through-fade + automatic re-acquisition spiral</a:t>
            </a:r>
          </a:p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0E7C99"/>
                </a:solidFill>
                <a:latin typeface="Arial"/>
              </a:rPr>
              <a:t>•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Blink-signature hard gate: a star scores zero — fooled 0 times in 64 runs</a:t>
            </a:r>
          </a:p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0E7C99"/>
                </a:solidFill>
                <a:latin typeface="Arial"/>
              </a:rPr>
              <a:t>•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Smith predictor cancels the measured 40 ms delay</a:t>
            </a:r>
          </a:p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0E7C99"/>
                </a:solidFill>
                <a:latin typeface="Arial"/>
              </a:rPr>
              <a:t>•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Dual-model IMM filter — two motion models re-weighted every frame catch sharp manoeuvres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384048" y="5577840"/>
            <a:ext cx="11430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50" b="1" i="0">
                <a:solidFill>
                  <a:srgbClr val="0B2545"/>
                </a:solidFill>
                <a:latin typeface="Arial"/>
              </a:rPr>
              <a:t>Worst case across all 64 randomised runs:  </a:t>
            </a:r>
            <a:r>
              <a:rPr sz="1150" b="0" i="0">
                <a:solidFill>
                  <a:srgbClr val="0B2545"/>
                </a:solidFill>
                <a:latin typeface="Arial"/>
              </a:rPr>
              <a:t>slowest acquisition 4.0 s, lowest lock retention 91.6%; even a 0.53×-dim beacon under 1.74× turbulence acquired in 2.8 s. Every number regenerates from one command — fully reproducible.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1755648" y="1170432"/>
            <a:ext cx="10058400" cy="3291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sz="950" b="0" i="1">
                <a:solidFill>
                  <a:srgbClr val="5A6472"/>
                </a:solidFill>
                <a:latin typeface="Arial"/>
              </a:rPr>
              <a:t>Potential impact on the target audience</a:t>
            </a: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sz="950" b="0" i="1">
                <a:solidFill>
                  <a:srgbClr val="5A6472"/>
                </a:solidFill>
                <a:latin typeface="Arial"/>
              </a:rPr>
              <a:t>Benefits of the solution (social, economic, environmental, etc.)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Team ZeroDrift · SIH 2026 · PS 26169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rgbClr val="0B2545"/>
          </a:solidFill>
          <a:ln w="15875">
            <a:solidFill>
              <a:srgbClr val="0E7C99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ZeroDrift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384048" y="1645920"/>
            <a:ext cx="5577840" cy="1609344"/>
          </a:xfrm>
          <a:prstGeom prst="roundRect">
            <a:avLst>
              <a:gd name="adj" fmla="val 6000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l"/>
            <a:r>
              <a:rPr sz="1300" b="1" i="0">
                <a:solidFill>
                  <a:srgbClr val="0B2545"/>
                </a:solidFill>
                <a:latin typeface="Arial"/>
              </a:rPr>
              <a:t>STRATEGIC</a:t>
            </a:r>
          </a:p>
          <a:p>
            <a:pPr algn="l">
              <a:spcBef>
                <a:spcPts val="300"/>
              </a:spcBef>
            </a:pPr>
            <a:r>
              <a:rPr sz="1150" b="0" i="0">
                <a:solidFill>
                  <a:srgbClr val="0B2545"/>
                </a:solidFill>
                <a:latin typeface="Arial"/>
              </a:rPr>
              <a:t>Advances India's next-generation space &amp; defence communications — FSOC pointing algorithms developed sovereignly, without importing optical test benches.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6163056" y="1645920"/>
            <a:ext cx="5577840" cy="1609344"/>
          </a:xfrm>
          <a:prstGeom prst="roundRect">
            <a:avLst>
              <a:gd name="adj" fmla="val 6000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l"/>
            <a:r>
              <a:rPr sz="1300" b="1" i="0">
                <a:solidFill>
                  <a:srgbClr val="1F8A5B"/>
                </a:solidFill>
                <a:latin typeface="Arial"/>
              </a:rPr>
              <a:t>ECONOMIC</a:t>
            </a:r>
          </a:p>
          <a:p>
            <a:pPr algn="l">
              <a:spcBef>
                <a:spcPts val="300"/>
              </a:spcBef>
            </a:pPr>
            <a:r>
              <a:rPr sz="1150" b="0" i="0">
                <a:solidFill>
                  <a:srgbClr val="0B2545"/>
                </a:solidFill>
                <a:latin typeface="Arial"/>
              </a:rPr>
              <a:t>A laptop replaces lakhs of rupees of cameras, gimbals and optics — the entire develop–test–validate cycle for FSOC pointing runs in pure software, at zero recurring cost.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384048" y="3401568"/>
            <a:ext cx="5577840" cy="1609344"/>
          </a:xfrm>
          <a:prstGeom prst="roundRect">
            <a:avLst>
              <a:gd name="adj" fmla="val 6000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l"/>
            <a:r>
              <a:rPr sz="1300" b="1" i="0">
                <a:solidFill>
                  <a:srgbClr val="0E7C99"/>
                </a:solidFill>
                <a:latin typeface="Arial"/>
              </a:rPr>
              <a:t>RESEARCH &amp; EDUCATION</a:t>
            </a:r>
          </a:p>
          <a:p>
            <a:pPr algn="l">
              <a:spcBef>
                <a:spcPts val="300"/>
              </a:spcBef>
            </a:pPr>
            <a:r>
              <a:rPr sz="1150" b="0" i="0">
                <a:solidFill>
                  <a:srgbClr val="0B2545"/>
                </a:solidFill>
                <a:latin typeface="Arial"/>
              </a:rPr>
              <a:t>Any student or ISRO lab can develop, test and compare PAT algorithms instantly — reproducible scenarios, honest ground-truth scoring, open source.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6163056" y="3401568"/>
            <a:ext cx="5577840" cy="1609344"/>
          </a:xfrm>
          <a:prstGeom prst="roundRect">
            <a:avLst>
              <a:gd name="adj" fmla="val 6000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l"/>
            <a:r>
              <a:rPr sz="1300" b="1" i="0">
                <a:solidFill>
                  <a:srgbClr val="B06A00"/>
                </a:solidFill>
                <a:latin typeface="Arial"/>
              </a:rPr>
              <a:t>SCALABLE &amp; GREEN</a:t>
            </a:r>
          </a:p>
          <a:p>
            <a:pPr algn="l">
              <a:spcBef>
                <a:spcPts val="300"/>
              </a:spcBef>
            </a:pPr>
            <a:r>
              <a:rPr sz="1150" b="0" i="0">
                <a:solidFill>
                  <a:srgbClr val="0B2545"/>
                </a:solidFill>
                <a:latin typeface="Arial"/>
              </a:rPr>
              <a:t>Same engine covers satellite, UAV, ground and maritime links. Pure software — no consumables, no lab energy, no e-waste in the development cycle.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384048" y="5285232"/>
            <a:ext cx="11430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200" b="1" i="0">
                <a:solidFill>
                  <a:srgbClr val="0B2545"/>
                </a:solidFill>
                <a:latin typeface="Arial"/>
              </a:rPr>
              <a:t>Target audience:  </a:t>
            </a:r>
            <a:r>
              <a:rPr sz="1200" b="0" i="0">
                <a:solidFill>
                  <a:srgbClr val="0B2545"/>
                </a:solidFill>
                <a:latin typeface="Arial"/>
              </a:rPr>
              <a:t>ISRO / IN-SPACe optical-communication teams, DRDO, IITs &amp; engineering colleges, and India's growing space-tech startups.</a:t>
            </a:r>
          </a:p>
          <a:p>
            <a:r>
              <a:rPr sz="1250" b="1" i="0">
                <a:solidFill>
                  <a:srgbClr val="0B2545"/>
                </a:solidFill>
                <a:latin typeface="Arial"/>
              </a:rPr>
              <a:t>The number that matters: 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on a tracked ISS pass, coarse stage + modelled fine stage closes the optical link </a:t>
            </a:r>
            <a:r>
              <a:rPr sz="1400" b="1" i="0">
                <a:solidFill>
                  <a:srgbClr val="1F8A5B"/>
                </a:solidFill>
                <a:latin typeface="Arial"/>
              </a:rPr>
              <a:t>99.3%</a:t>
            </a:r>
            <a:r>
              <a:rPr sz="1250" b="0" i="0">
                <a:solidFill>
                  <a:srgbClr val="0B2545"/>
                </a:solidFill>
                <a:latin typeface="Arial"/>
              </a:rPr>
              <a:t> of the time vs </a:t>
            </a:r>
            <a:r>
              <a:rPr sz="1400" b="1" i="0">
                <a:solidFill>
                  <a:srgbClr val="9C2E23"/>
                </a:solidFill>
                <a:latin typeface="Arial"/>
              </a:rPr>
              <a:t>14.7%</a:t>
            </a:r>
            <a:r>
              <a:rPr sz="1250" b="0" i="0">
                <a:solidFill>
                  <a:srgbClr val="0B2545"/>
                </a:solidFill>
                <a:latin typeface="Arial"/>
              </a:rPr>
              <a:t> without — measured, not asserted.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1755648" y="1170432"/>
            <a:ext cx="10058400" cy="20116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sz="950" b="0" i="1">
                <a:solidFill>
                  <a:srgbClr val="5A6472"/>
                </a:solidFill>
                <a:latin typeface="Arial"/>
              </a:rPr>
              <a:t>Details / Links of the reference and research work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Team ZeroDrift · SIH 2026 · PS 26169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rgbClr val="0B2545"/>
          </a:solidFill>
          <a:ln w="15875">
            <a:solidFill>
              <a:srgbClr val="0E7C99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ZeroDrift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TextBox 17410"/>
          <p:cNvSpPr txBox="1"/>
          <p:nvPr/>
        </p:nvSpPr>
        <p:spPr>
          <a:xfrm>
            <a:off x="384048" y="1517904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0B2545"/>
                </a:solidFill>
                <a:latin typeface="Arial"/>
              </a:rPr>
              <a:t>Research foundations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384048" y="1920240"/>
            <a:ext cx="557784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>Kaymak et al.,  </a:t>
            </a:r>
            <a:r>
              <a:rPr sz="1100" b="0" i="0">
                <a:solidFill>
                  <a:srgbClr val="0B2545"/>
                </a:solidFill>
                <a:latin typeface="Arial"/>
              </a:rPr>
              <a:t>“A Survey on Acquisition, Tracking and Pointing Mechanisms for Mobile FSO,” IEEE Comm. Surveys &amp; Tutorials, 2018.  </a:t>
            </a:r>
            <a:r>
              <a:rPr sz="1000" u="sng">
                <a:solidFill>
                  <a:srgbClr val="0E7C99"/>
                </a:solidFill>
                <a:latin typeface="Arial"/>
                <a:hlinkClick r:id="rId4"/>
              </a:rPr>
              <a:t>[link]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>Kaushal &amp; Kaddoum,  </a:t>
            </a:r>
            <a:r>
              <a:rPr sz="1100" b="0" i="0">
                <a:solidFill>
                  <a:srgbClr val="0B2545"/>
                </a:solidFill>
                <a:latin typeface="Arial"/>
              </a:rPr>
              <a:t>“Optical Communication in Space: Challenges and Mitigation Techniques,” IEEE Comm. Surveys &amp; Tutorials, 2017.  </a:t>
            </a:r>
            <a:r>
              <a:rPr sz="1000" u="sng">
                <a:solidFill>
                  <a:srgbClr val="0E7C99"/>
                </a:solidFill>
                <a:latin typeface="Arial"/>
                <a:hlinkClick r:id="rId5"/>
              </a:rPr>
              <a:t>[link]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>Blackman &amp; Popoli,  </a:t>
            </a:r>
            <a:r>
              <a:rPr sz="1100" b="0" i="0">
                <a:solidFill>
                  <a:srgbClr val="0B2545"/>
                </a:solidFill>
                <a:latin typeface="Arial"/>
              </a:rPr>
              <a:t>Design and Analysis of Modern Tracking Systems — IMM filtering, CFAR detection, track management.  </a:t>
            </a:r>
            <a:r>
              <a:rPr sz="1000" u="sng">
                <a:solidFill>
                  <a:srgbClr val="0E7C99"/>
                </a:solidFill>
                <a:latin typeface="Arial"/>
                <a:hlinkClick r:id="rId6"/>
              </a:rPr>
              <a:t>[link]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>Bar-Shalom et al.,  </a:t>
            </a:r>
            <a:r>
              <a:rPr sz="1100" b="0" i="0">
                <a:solidFill>
                  <a:srgbClr val="0B2545"/>
                </a:solidFill>
                <a:latin typeface="Arial"/>
              </a:rPr>
              <a:t>Estimation with Applications to Tracking and Navigation — Kalman/IMM theory.  </a:t>
            </a:r>
            <a:r>
              <a:rPr sz="1000" u="sng">
                <a:solidFill>
                  <a:srgbClr val="0E7C99"/>
                </a:solidFill>
                <a:latin typeface="Arial"/>
                <a:hlinkClick r:id="rId7"/>
              </a:rPr>
              <a:t>[link]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>Smith, O.J.M.,  </a:t>
            </a:r>
            <a:r>
              <a:rPr sz="1100" b="0" i="0">
                <a:solidFill>
                  <a:srgbClr val="0B2545"/>
                </a:solidFill>
                <a:latin typeface="Arial"/>
              </a:rPr>
              <a:t>“Closer Control of Loops with Dead Time” — the Smith predictor, 1957.  </a:t>
            </a:r>
            <a:r>
              <a:rPr sz="1000" u="sng">
                <a:solidFill>
                  <a:srgbClr val="0E7C99"/>
                </a:solidFill>
                <a:latin typeface="Arial"/>
                <a:hlinkClick r:id="rId8"/>
              </a:rPr>
              <a:t>[link]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>Vallado &amp; Crawford,  </a:t>
            </a:r>
            <a:r>
              <a:rPr sz="1100" b="0" i="0">
                <a:solidFill>
                  <a:srgbClr val="0B2545"/>
                </a:solidFill>
                <a:latin typeface="Arial"/>
              </a:rPr>
              <a:t>“SGP4 Orbit Determination” — AIAA 2008; real ISS TLE propagation.  </a:t>
            </a:r>
            <a:r>
              <a:rPr sz="1000" u="sng">
                <a:solidFill>
                  <a:srgbClr val="0E7C99"/>
                </a:solidFill>
                <a:latin typeface="Arial"/>
                <a:hlinkClick r:id="rId9"/>
              </a:rPr>
              <a:t>[link]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>Andrews &amp; Phillips,  </a:t>
            </a:r>
            <a:r>
              <a:rPr sz="1100" b="0" i="0">
                <a:solidFill>
                  <a:srgbClr val="0B2545"/>
                </a:solidFill>
                <a:latin typeface="Arial"/>
              </a:rPr>
              <a:t>Laser Beam Propagation through Random Media — turbulence &amp; scintillation models.  </a:t>
            </a:r>
            <a:r>
              <a:rPr sz="1000" u="sng">
                <a:solidFill>
                  <a:srgbClr val="0E7C99"/>
                </a:solidFill>
                <a:latin typeface="Arial"/>
                <a:hlinkClick r:id="rId10"/>
              </a:rPr>
              <a:t>[link]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6355080" y="1517904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0B2545"/>
                </a:solidFill>
                <a:latin typeface="Arial"/>
              </a:rPr>
              <a:t>Our work — open and verifiable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6355080" y="1920240"/>
            <a:ext cx="54864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>Repository:  </a:t>
            </a:r>
            <a:r>
              <a:rPr sz="1100" u="sng">
                <a:solidFill>
                  <a:srgbClr val="0E7C99"/>
                </a:solidFill>
                <a:latin typeface="Arial"/>
                <a:hlinkClick r:id="rId11"/>
              </a:rPr>
              <a:t>github.com/pranshukesavmishra/SIH-2026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>Live demo (replay console):  </a:t>
            </a:r>
            <a:r>
              <a:rPr sz="1100" u="sng">
                <a:solidFill>
                  <a:srgbClr val="0E7C99"/>
                </a:solidFill>
                <a:latin typeface="Arial"/>
                <a:hlinkClick r:id="rId12"/>
              </a:rPr>
              <a:t>zerodrift-fsoc-pat.netlify.app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>Inside:  </a:t>
            </a:r>
            <a:r>
              <a:rPr sz="1100" b="0" i="0">
                <a:solidFill>
                  <a:srgbClr val="0B2545"/>
                </a:solidFill>
                <a:latin typeface="Arial"/>
              </a:rPr>
              <a:t>full source (5,000+ lines, documented) · 73 automated tests · 6 validated scenarios · Monte-Carlo campaign logs · technical report · user manual · demo video.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>Reproducibility:  </a:t>
            </a:r>
            <a:r>
              <a:rPr sz="1100" b="0" i="0">
                <a:solidFill>
                  <a:srgbClr val="0B2545"/>
                </a:solidFill>
                <a:latin typeface="Arial"/>
              </a:rPr>
              <a:t>every figure in this deck regenerates from one command; every random draw is logged and replayable.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6355080" y="334670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 i="0">
                <a:solidFill>
                  <a:srgbClr val="0B2545"/>
                </a:solidFill>
                <a:latin typeface="Arial"/>
              </a:rPr>
              <a:t>Compared with existing approaches</a:t>
            </a:r>
          </a:p>
        </p:txBody>
      </p:sp>
      <p:graphicFrame>
        <p:nvGraphicFramePr>
          <p:cNvPr id="17416" name="Table 17415"/>
          <p:cNvGraphicFramePr>
            <a:graphicFrameLocks noGrp="1"/>
          </p:cNvGraphicFramePr>
          <p:nvPr/>
        </p:nvGraphicFramePr>
        <p:xfrm>
          <a:off x="6355080" y="3621024"/>
          <a:ext cx="5486400" cy="10972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80360"/>
                <a:gridCol w="868680"/>
                <a:gridCol w="868680"/>
                <a:gridCol w="868680"/>
              </a:tblGrid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9144" marB="9144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ZeroDrift</a:t>
                      </a:r>
                    </a:p>
                  </a:txBody>
                  <a:tcPr marL="45720" marR="45720" marT="9144" marB="9144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MATLAB sim</a:t>
                      </a:r>
                    </a:p>
                  </a:txBody>
                  <a:tcPr marL="45720" marR="45720" marT="9144" marB="9144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HW testbed</a:t>
                      </a:r>
                    </a:p>
                  </a:txBody>
                  <a:tcPr marL="45720" marR="45720" marT="9144" marB="9144" anchor="ctr">
                    <a:solidFill>
                      <a:srgbClr val="0B2545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0B2545"/>
                          </a:solidFill>
                          <a:latin typeface="Arial"/>
                        </a:rPr>
                        <a:t>Zero hardware cost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1F8A5B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1F8A5B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9C2E23"/>
                          </a:solidFill>
                          <a:latin typeface="Arial"/>
                        </a:rPr>
                        <a:t>✗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0B2545"/>
                          </a:solidFill>
                          <a:latin typeface="Arial"/>
                        </a:rPr>
                        <a:t>Real-time closed loop + live console</a:t>
                      </a:r>
                    </a:p>
                  </a:txBody>
                  <a:tcPr marL="45720" marR="45720" marT="9144" marB="9144" anchor="ctr"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1F8A5B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45720" marR="45720" marT="9144" marB="9144" anchor="ctr"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9C2E23"/>
                          </a:solidFill>
                          <a:latin typeface="Arial"/>
                        </a:rPr>
                        <a:t>✗</a:t>
                      </a:r>
                    </a:p>
                  </a:txBody>
                  <a:tcPr marL="45720" marR="45720" marT="9144" marB="9144" anchor="ctr"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1F8A5B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45720" marR="45720" marT="9144" marB="9144" anchor="ctr">
                    <a:solidFill>
                      <a:srgbClr val="EFF3F7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0B2545"/>
                          </a:solidFill>
                          <a:latin typeface="Arial"/>
                        </a:rPr>
                        <a:t>Decoy &amp; blink-signature discrimination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1F8A5B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9C2E23"/>
                          </a:solidFill>
                          <a:latin typeface="Arial"/>
                        </a:rPr>
                        <a:t>✗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9C2E23"/>
                          </a:solidFill>
                          <a:latin typeface="Arial"/>
                        </a:rPr>
                        <a:t>✗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0B2545"/>
                          </a:solidFill>
                          <a:latin typeface="Arial"/>
                        </a:rPr>
                        <a:t>Open source · one-command reproducible</a:t>
                      </a:r>
                    </a:p>
                  </a:txBody>
                  <a:tcPr marL="45720" marR="45720" marT="9144" marB="9144" anchor="ctr"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1F8A5B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45720" marR="45720" marT="9144" marB="9144" anchor="ctr"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9C2E23"/>
                          </a:solidFill>
                          <a:latin typeface="Arial"/>
                        </a:rPr>
                        <a:t>✗</a:t>
                      </a:r>
                    </a:p>
                  </a:txBody>
                  <a:tcPr marL="45720" marR="45720" marT="9144" marB="9144" anchor="ctr"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9C2E23"/>
                          </a:solidFill>
                          <a:latin typeface="Arial"/>
                        </a:rPr>
                        <a:t>✗</a:t>
                      </a:r>
                    </a:p>
                  </a:txBody>
                  <a:tcPr marL="45720" marR="45720" marT="9144" marB="9144" anchor="ctr">
                    <a:solidFill>
                      <a:srgbClr val="EFF3F7"/>
                    </a:solidFill>
                  </a:tcPr>
                </a:tc>
              </a:tr>
            </a:tbl>
          </a:graphicData>
        </a:graphic>
      </p:graphicFrame>
      <p:sp>
        <p:nvSpPr>
          <p:cNvPr id="17417" name="Rounded Rectangle 17416"/>
          <p:cNvSpPr/>
          <p:nvPr/>
        </p:nvSpPr>
        <p:spPr>
          <a:xfrm>
            <a:off x="6355080" y="4864608"/>
            <a:ext cx="5486400" cy="1133856"/>
          </a:xfrm>
          <a:prstGeom prst="roundRect">
            <a:avLst>
              <a:gd name="adj" fmla="val 6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Why ZeroDrift wins on this problem</a:t>
            </a:r>
          </a:p>
          <a:p>
            <a:pPr>
              <a:spcBef>
                <a:spcPts val="200"/>
              </a:spcBef>
            </a:pPr>
            <a:r>
              <a:rPr sz="1050" b="1" i="0">
                <a:solidFill>
                  <a:srgbClr val="7FD4A8"/>
                </a:solidFill>
                <a:latin typeface="Arial"/>
              </a:rPr>
              <a:t>✓  </a:t>
            </a:r>
            <a:r>
              <a:rPr sz="1050" b="0" i="0">
                <a:solidFill>
                  <a:srgbClr val="FFFFFF"/>
                </a:solidFill>
                <a:latin typeface="Arial"/>
              </a:rPr>
              <a:t>All six mandatory deliverables already exist today</a:t>
            </a:r>
          </a:p>
          <a:p>
            <a:pPr>
              <a:spcBef>
                <a:spcPts val="200"/>
              </a:spcBef>
            </a:pPr>
            <a:r>
              <a:rPr sz="1050" b="1" i="0">
                <a:solidFill>
                  <a:srgbClr val="7FD4A8"/>
                </a:solidFill>
                <a:latin typeface="Arial"/>
              </a:rPr>
              <a:t>✓  </a:t>
            </a:r>
            <a:r>
              <a:rPr sz="1050" b="0" i="0">
                <a:solidFill>
                  <a:srgbClr val="FFFFFF"/>
                </a:solidFill>
                <a:latin typeface="Arial"/>
              </a:rPr>
              <a:t>Judged numbers, honestly measured against hidden ground truth</a:t>
            </a:r>
          </a:p>
          <a:p>
            <a:pPr>
              <a:spcBef>
                <a:spcPts val="200"/>
              </a:spcBef>
            </a:pPr>
            <a:r>
              <a:rPr sz="1050" b="1" i="0">
                <a:solidFill>
                  <a:srgbClr val="7FD4A8"/>
                </a:solidFill>
                <a:latin typeface="Arial"/>
              </a:rPr>
              <a:t>✓  </a:t>
            </a:r>
            <a:r>
              <a:rPr sz="1050" b="0" i="0">
                <a:solidFill>
                  <a:srgbClr val="FFFFFF"/>
                </a:solidFill>
                <a:latin typeface="Arial"/>
              </a:rPr>
              <a:t>AI where it earns its place — benchmarked against classical methods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3" name="Round Diagonal Corner Rectangle 2"/>
          <p:cNvSpPr/>
          <p:nvPr/>
        </p:nvSpPr>
        <p:spPr>
          <a:xfrm>
            <a:off x="0" y="1791032"/>
            <a:ext cx="12192000" cy="4319200"/>
          </a:xfrm>
          <a:prstGeom prst="round2DiagRect">
            <a:avLst/>
          </a:prstGeom>
          <a:solidFill>
            <a:schemeClr val="accent1">
              <a:lumMod val="20000"/>
              <a:lumOff val="80000"/>
            </a:schemeClr>
          </a:solidFill>
          <a:ln w="381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" name="Google Shape;100;p3"/>
          <p:cNvSpPr txBox="1"/>
          <p:nvPr/>
        </p:nvSpPr>
        <p:spPr>
          <a:xfrm>
            <a:off x="367832" y="1915454"/>
            <a:ext cx="11764736" cy="40703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514350" marR="0" lvl="0" indent="-514350" algn="just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Kindly keep the maximum slides limit up to six </a:t>
            </a: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(6). 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 Including the </a:t>
            </a:r>
            <a:r>
              <a:rPr lang="en-US" b="1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title slide)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Try to avoid paragraphs and post your idea in points /diagrams / Infographics /pictures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Keep your explanation precise and easy to understand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Idea should be unique and novel.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can only use provided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template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for making the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PPT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without changing the idea details pointers (mentioned in previous slides).</a:t>
            </a:r>
            <a:endParaRPr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need to save the file in PDF and upload the same on portal. No PPT, Word Doc or any other format will be supported.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349885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0" marR="0" lvl="0" indent="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Note - You can delete this slide (Important Pointers) when you upload the details of your idea on SIH portal.</a:t>
            </a:r>
            <a:endParaRPr b="1" dirty="0">
              <a:solidFill>
                <a:srgbClr val="C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914400" marR="0" lvl="1" indent="-316230" algn="just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sz="2000"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393371" y="107066"/>
            <a:ext cx="84105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IMPORTANT INSTRUCTIONS</a:t>
            </a:r>
            <a:endParaRPr lang="en-IN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02343" y="1181900"/>
            <a:ext cx="9557657" cy="3416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</a:pP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Please ensure below pointers are met while submitting the Idea PPT:</a:t>
            </a:r>
            <a:endParaRPr lang="en-IN" b="1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</a:endParaRP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0844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ZeroDrift — SIH 2026 Idea Submission (PS 26169, ISRO)</dc:title>
  <dc:subject>AI-Based Virtual Camera Tracking for Coarse Alignment of Mobile FSOC Terminals</dc:subject>
  <dc:creator>Team ZeroDrift, Jabalpur Engineering College</dc:creator>
  <cp:keywords>SIH 2026, PS 26169, ISRO, FSOC, ZeroDrift</cp:keywords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