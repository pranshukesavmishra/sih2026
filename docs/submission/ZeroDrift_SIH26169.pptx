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cholar.google.com/scholar?q=%22A+Survey+on+Acquisition+Tracking+and+Pointing+Mechanisms+for+Mobile+Free-Space+Optical+Communications%22" TargetMode="External"/><Relationship Id="rId5" Type="http://schemas.openxmlformats.org/officeDocument/2006/relationships/hyperlink" Target="https://scholar.google.com/scholar?q=%22Optical+Communication+in+Space+Challenges+and+Mitigation+Techniques%22" TargetMode="External"/><Relationship Id="rId6" Type="http://schemas.openxmlformats.org/officeDocument/2006/relationships/hyperlink" Target="https://scholar.google.com/scholar?q=%22Design+and+Analysis+of+Modern+Tracking+Systems+Blackman+Popoli%22" TargetMode="External"/><Relationship Id="rId7" Type="http://schemas.openxmlformats.org/officeDocument/2006/relationships/hyperlink" Target="https://scholar.google.com/scholar?q=%22Estimation+with+Applications+to+Tracking+and+Navigation+Bar-Shalom%22" TargetMode="External"/><Relationship Id="rId8" Type="http://schemas.openxmlformats.org/officeDocument/2006/relationships/hyperlink" Target="https://scholar.google.com/scholar?q=%22Closer+Control+of+Loops+with+Dead+Time+Smith%22" TargetMode="External"/><Relationship Id="rId9" Type="http://schemas.openxmlformats.org/officeDocument/2006/relationships/hyperlink" Target="https://scholar.google.com/scholar?q=%22SGP4+Orbit+Determination+Vallado+Crawford%22" TargetMode="External"/><Relationship Id="rId10" Type="http://schemas.openxmlformats.org/officeDocument/2006/relationships/hyperlink" Target="https://scholar.google.com/scholar?q=%22Laser+Beam+Propagation+through+Random+Media+Andrews+Phillips%22" TargetMode="External"/><Relationship Id="rId11" Type="http://schemas.openxmlformats.org/officeDocument/2006/relationships/hyperlink" Target="https://github.com/pranshukesavmishra/SIH-2026" TargetMode="External"/><Relationship Id="rId12" Type="http://schemas.openxmlformats.org/officeDocument/2006/relationships/hyperlink" Target="https://zerodrift-fsoc-pat.netlify.app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645152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 tracking the beacon during a simulated LEO pass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1.27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98.3 %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4901184"/>
            <a:ext cx="4892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545"/>
                </a:solidFill>
                <a:latin typeface="Arial"/>
              </a:rPr>
              <a:t>Measured: </a:t>
            </a:r>
            <a:r>
              <a:rPr sz="1100" b="1" i="0">
                <a:solidFill>
                  <a:srgbClr val="0E7C99"/>
                </a:solidFill>
                <a:latin typeface="Arial"/>
              </a:rPr>
              <a:t>median 198 µrad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in lock · in-FOV </a:t>
            </a:r>
            <a:r>
              <a:rPr sz="11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100" b="0" i="0">
                <a:solidFill>
                  <a:srgbClr val="0B2545"/>
                </a:solidFill>
                <a:latin typeface="Arial"/>
              </a:rPr>
              <a:t> · the live-demo run</a:t>
            </a:r>
          </a:p>
        </p:txBody>
      </p:sp>
      <p:pic>
        <p:nvPicPr>
          <p:cNvPr id="15371" name="Picture 15370" descr="chart_converg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5138928"/>
            <a:ext cx="4892040" cy="1076249"/>
          </a:xfrm>
          <a:prstGeom prst="rect">
            <a:avLst/>
          </a:prstGeom>
          <a:ln w="9525">
            <a:solidFill>
              <a:srgbClr val="D5DDE5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9105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B2545"/>
                </a:solidFill>
                <a:latin typeface="Arial"/>
              </a:rPr>
              <a:t>TECH STACK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751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CORE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77824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NP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371600" y="221284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CV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901952" y="2249424"/>
            <a:ext cx="17647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Python 3.11 · NumPy · OpenCV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270662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INTERFACE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84048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Qt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77824" y="2944368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08176" y="2980944"/>
            <a:ext cx="22585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PySide6 console · pyqtgraph live plots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84048" y="34381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ORBITS · AI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84048" y="367588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SGP4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1042415" y="367588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NN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572768" y="371246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real ISS TLEs · from-scratch neural verifier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416966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QUALITY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84048" y="440740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73✓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42415" y="4407407"/>
            <a:ext cx="402336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CI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572768" y="4443983"/>
            <a:ext cx="20939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pytest suite · GitHub Actions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4048" y="4901183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 i="0">
                <a:solidFill>
                  <a:srgbClr val="5A6472"/>
                </a:solidFill>
                <a:latin typeface="Arial"/>
              </a:rPr>
              <a:t>SHIPPING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84048" y="5138927"/>
            <a:ext cx="566928" cy="329184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EXE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78992" y="5175503"/>
            <a:ext cx="25877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0B2545"/>
                </a:solidFill>
                <a:latin typeface="Arial"/>
              </a:rPr>
              <a:t>PyInstaller one-click standalone app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84048" y="565099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0" i="1">
                <a:solidFill>
                  <a:srgbClr val="5A6472"/>
                </a:solidFill>
                <a:latin typeface="Arial"/>
              </a:rPr>
              <a:t>100% open source · zero licensing cost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794760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sky · stars · clutter · decoys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LEO / UAV trajectories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9.2 MPx / s of imagery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382512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VIRTUAL CAMERA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pan-tilt gimbal model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slew limits · 40 ms latency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sensor noise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frames / s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970264" y="1682496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PERCEPTION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top-hat + matched filter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CFAR · sub-pixel centroid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AI verifier (own NN)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≈6 candidates / frame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970264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DECISION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multi-target tracker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blink-signature hard gate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IMM Kalman estimate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1 confirmed beacon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382512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velocity feed-forward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spiral search states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30 commands / 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794760" y="3255264"/>
            <a:ext cx="2304288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OPERATOR OUTPUTS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live GUI console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auto performance report</a:t>
            </a:r>
          </a:p>
          <a:p>
            <a:pPr algn="ctr"/>
            <a:r>
              <a:rPr sz="800" b="0" i="0">
                <a:solidFill>
                  <a:srgbClr val="D5E3EC"/>
                </a:solidFill>
                <a:latin typeface="Arial"/>
              </a:rPr>
              <a:t>demo video export</a:t>
            </a:r>
          </a:p>
          <a:p>
            <a:pPr algn="ctr"/>
            <a:r>
              <a:rPr sz="800" b="1" i="0">
                <a:solidFill>
                  <a:srgbClr val="FFD97A"/>
                </a:solidFill>
                <a:latin typeface="Arial"/>
              </a:rPr>
              <a:t>→ for judges &amp; operators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6080760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ight Arrow 17439"/>
          <p:cNvSpPr/>
          <p:nvPr/>
        </p:nvSpPr>
        <p:spPr>
          <a:xfrm>
            <a:off x="8668512" y="2176272"/>
            <a:ext cx="338328" cy="146304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Down Arrow 17440"/>
          <p:cNvSpPr/>
          <p:nvPr/>
        </p:nvSpPr>
        <p:spPr>
          <a:xfrm>
            <a:off x="10049256" y="2834640"/>
            <a:ext cx="146304" cy="402336"/>
          </a:xfrm>
          <a:prstGeom prst="down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Left Arrow 17441"/>
          <p:cNvSpPr/>
          <p:nvPr/>
        </p:nvSpPr>
        <p:spPr>
          <a:xfrm>
            <a:off x="8668512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Left Arrow 17442"/>
          <p:cNvSpPr/>
          <p:nvPr/>
        </p:nvSpPr>
        <p:spPr>
          <a:xfrm>
            <a:off x="6080760" y="3749039"/>
            <a:ext cx="338328" cy="146304"/>
          </a:xfrm>
          <a:prstGeom prst="lef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Up Arrow 17443"/>
          <p:cNvSpPr/>
          <p:nvPr/>
        </p:nvSpPr>
        <p:spPr>
          <a:xfrm>
            <a:off x="7461504" y="2834640"/>
            <a:ext cx="146304" cy="411479"/>
          </a:xfrm>
          <a:prstGeom prst="upArrow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680960" y="2871216"/>
            <a:ext cx="1737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>
                <a:solidFill>
                  <a:srgbClr val="1F8A5B"/>
                </a:solidFill>
                <a:latin typeface="Arial"/>
              </a:rPr>
              <a:t>closed loop: 30 pointing commands / s</a:t>
            </a:r>
          </a:p>
        </p:txBody>
      </p:sp>
      <p:pic>
        <p:nvPicPr>
          <p:cNvPr id="17446" name="Picture 17445" descr="side_lab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8288" y="1737360"/>
            <a:ext cx="178760" cy="41605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3794760" y="462686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79476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49" name="Right Arrow 17448"/>
          <p:cNvSpPr/>
          <p:nvPr/>
        </p:nvSpPr>
        <p:spPr>
          <a:xfrm>
            <a:off x="509320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Rounded Rectangle 17449"/>
          <p:cNvSpPr/>
          <p:nvPr/>
        </p:nvSpPr>
        <p:spPr>
          <a:xfrm>
            <a:off x="525780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51" name="Right Arrow 17450"/>
          <p:cNvSpPr/>
          <p:nvPr/>
        </p:nvSpPr>
        <p:spPr>
          <a:xfrm>
            <a:off x="655624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ounded Rectangle 17451"/>
          <p:cNvSpPr/>
          <p:nvPr/>
        </p:nvSpPr>
        <p:spPr>
          <a:xfrm>
            <a:off x="6720840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53" name="Right Arrow 17452"/>
          <p:cNvSpPr/>
          <p:nvPr/>
        </p:nvSpPr>
        <p:spPr>
          <a:xfrm>
            <a:off x="801928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Rounded Rectangle 17453"/>
          <p:cNvSpPr/>
          <p:nvPr/>
        </p:nvSpPr>
        <p:spPr>
          <a:xfrm>
            <a:off x="818387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55" name="Right Arrow 17454"/>
          <p:cNvSpPr/>
          <p:nvPr/>
        </p:nvSpPr>
        <p:spPr>
          <a:xfrm>
            <a:off x="9482328" y="5010912"/>
            <a:ext cx="146304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Rounded Rectangle 17455"/>
          <p:cNvSpPr/>
          <p:nvPr/>
        </p:nvSpPr>
        <p:spPr>
          <a:xfrm>
            <a:off x="9646919" y="4882896"/>
            <a:ext cx="1298448" cy="384048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3794760" y="5431536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B2545"/>
                </a:solidFill>
                <a:latin typeface="Arial"/>
              </a:rPr>
              <a:t>One 33 ms cycle, measured:  </a:t>
            </a:r>
            <a:r>
              <a:rPr sz="1050" b="0" i="0">
                <a:solidFill>
                  <a:srgbClr val="0B2545"/>
                </a:solidFill>
                <a:latin typeface="Arial"/>
              </a:rPr>
              <a:t>307,200 px in → ≈6 CFAR candidates → 1 beacon confirmed → 1 command out, ≈20 ms used (p50, ISS-pass run). Closed loop, within the 33 ms frame budget on a normal laptop; recovers even from 5° off-target among decoys.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Tracker uses 8–21 ms of each 33 ms frame on two CPU cores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— two motion models re-weighted every frame catch sharp manoeuvres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slowest acquisition 4.0 s, lowest lock retention 91.6%; even a 0.53×-dim beacon under 1.74× turbulence acquired in 2.8 s.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  </a:t>
            </a:r>
            <a:r>
              <a:rPr sz="1000" u="sng">
                <a:solidFill>
                  <a:srgbClr val="0E7C99"/>
                </a:solidFill>
                <a:latin typeface="Arial"/>
                <a:hlinkClick r:id="rId4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  </a:t>
            </a:r>
            <a:r>
              <a:rPr sz="1000" u="sng">
                <a:solidFill>
                  <a:srgbClr val="0E7C99"/>
                </a:solidFill>
                <a:latin typeface="Arial"/>
                <a:hlinkClick r:id="rId5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  </a:t>
            </a:r>
            <a:r>
              <a:rPr sz="1000" u="sng">
                <a:solidFill>
                  <a:srgbClr val="0E7C99"/>
                </a:solidFill>
                <a:latin typeface="Arial"/>
                <a:hlinkClick r:id="rId6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  </a:t>
            </a:r>
            <a:r>
              <a:rPr sz="1000" u="sng">
                <a:solidFill>
                  <a:srgbClr val="0E7C99"/>
                </a:solidFill>
                <a:latin typeface="Arial"/>
                <a:hlinkClick r:id="rId7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  </a:t>
            </a:r>
            <a:r>
              <a:rPr sz="1000" u="sng">
                <a:solidFill>
                  <a:srgbClr val="0E7C99"/>
                </a:solidFill>
                <a:latin typeface="Arial"/>
                <a:hlinkClick r:id="rId8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  </a:t>
            </a:r>
            <a:r>
              <a:rPr sz="1000" u="sng">
                <a:solidFill>
                  <a:srgbClr val="0E7C99"/>
                </a:solidFill>
                <a:latin typeface="Arial"/>
                <a:hlinkClick r:id="rId9"/>
              </a:rPr>
              <a:t>[link]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  </a:t>
            </a:r>
            <a:r>
              <a:rPr sz="1000" u="sng">
                <a:solidFill>
                  <a:srgbClr val="0E7C99"/>
                </a:solidFill>
                <a:latin typeface="Arial"/>
                <a:hlinkClick r:id="rId10"/>
              </a:rPr>
              <a:t>[link]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u="sng">
                <a:solidFill>
                  <a:srgbClr val="0E7C99"/>
                </a:solidFill>
                <a:latin typeface="Arial"/>
                <a:hlinkClick r:id="rId11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Live demo (hosted prototype):  </a:t>
            </a:r>
            <a:r>
              <a:rPr sz="1100" u="sng">
                <a:solidFill>
                  <a:srgbClr val="0E7C99"/>
                </a:solidFill>
                <a:latin typeface="Arial"/>
                <a:hlinkClick r:id="rId12"/>
              </a:rPr>
              <a:t>zerodrift-fsoc-pat.netlify.app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334670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Arial"/>
              </a:rPr>
              <a:t>Compared with existing approaches</a:t>
            </a:r>
          </a:p>
        </p:txBody>
      </p:sp>
      <p:graphicFrame>
        <p:nvGraphicFramePr>
          <p:cNvPr id="17416" name="Table 17415"/>
          <p:cNvGraphicFramePr>
            <a:graphicFrameLocks noGrp="1"/>
          </p:cNvGraphicFramePr>
          <p:nvPr/>
        </p:nvGraphicFramePr>
        <p:xfrm>
          <a:off x="6355080" y="3621024"/>
          <a:ext cx="5486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ZeroDrift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MATLAB sim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HW testbed</a:t>
                      </a:r>
                    </a:p>
                  </a:txBody>
                  <a:tcPr marL="45720" marR="45720" marT="9144" marB="9144" anchor="ctr">
                    <a:solidFill>
                      <a:srgbClr val="0B254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Zero hardware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Real-time closed loop + live console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Decoy &amp; blink-signature discrimination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0B2545"/>
                          </a:solidFill>
                          <a:latin typeface="Arial"/>
                        </a:rPr>
                        <a:t>Open source · one-command reproducible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F8A5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9C2E23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9144" marB="9144" anchor="ctr">
                    <a:solidFill>
                      <a:srgbClr val="EFF3F7"/>
                    </a:solidFill>
                  </a:tcPr>
                </a:tc>
              </a:tr>
            </a:tbl>
          </a:graphicData>
        </a:graphic>
      </p:graphicFrame>
      <p:sp>
        <p:nvSpPr>
          <p:cNvPr id="17417" name="Rounded Rectangle 17416"/>
          <p:cNvSpPr/>
          <p:nvPr/>
        </p:nvSpPr>
        <p:spPr>
          <a:xfrm>
            <a:off x="6355080" y="4864608"/>
            <a:ext cx="5486400" cy="113385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200"/>
              </a:spcBef>
            </a:pPr>
            <a:r>
              <a:rPr sz="10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ZeroDrift — SIH 2026 Idea Submission (PS 26169, ISRO)</dc:title>
  <dc:subject>AI-Based Virtual Camera Tracking for Coarse Alignment of Mobile FSOC Terminals</dc:subject>
  <dc:creator>Team ZeroDrift, Jabalpur Engineering College</dc:creator>
  <cp:keywords>SIH 2026, PS 26169, ISRO, FSOC, ZeroDrift</cp:keywords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