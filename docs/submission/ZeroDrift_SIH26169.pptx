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scholar.google.com/scholar?q=%22A+Survey+on+Acquisition+Tracking+and+Pointing+Mechanisms+for+Mobile+Free-Space+Optical+Communications%22" TargetMode="External"/><Relationship Id="rId5" Type="http://schemas.openxmlformats.org/officeDocument/2006/relationships/hyperlink" Target="https://scholar.google.com/scholar?q=%22Optical+Communication+in+Space+Challenges+and+Mitigation+Techniques%22" TargetMode="External"/><Relationship Id="rId6" Type="http://schemas.openxmlformats.org/officeDocument/2006/relationships/hyperlink" Target="https://scholar.google.com/scholar?q=%22Design+and+Analysis+of+Modern+Tracking+Systems+Blackman+Popoli%22" TargetMode="External"/><Relationship Id="rId7" Type="http://schemas.openxmlformats.org/officeDocument/2006/relationships/hyperlink" Target="https://scholar.google.com/scholar?q=%22Estimation+with+Applications+to+Tracking+and+Navigation+Bar-Shalom%22" TargetMode="External"/><Relationship Id="rId8" Type="http://schemas.openxmlformats.org/officeDocument/2006/relationships/hyperlink" Target="https://scholar.google.com/scholar?q=%22Closer+Control+of+Loops+with+Dead+Time+Smith%22" TargetMode="External"/><Relationship Id="rId9" Type="http://schemas.openxmlformats.org/officeDocument/2006/relationships/hyperlink" Target="https://scholar.google.com/scholar?q=%22SGP4+Orbit+Determination+Vallado+Crawford%22" TargetMode="External"/><Relationship Id="rId10" Type="http://schemas.openxmlformats.org/officeDocument/2006/relationships/hyperlink" Target="https://scholar.google.com/scholar?q=%22Laser+Beam+Propagation+through+Random+Media+Andrews+Phillips%22" TargetMode="External"/><Relationship Id="rId11" Type="http://schemas.openxmlformats.org/officeDocument/2006/relationships/hyperlink" Target="https://github.com/pranshukesavmishra/SIH-202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742432"/>
            <a:ext cx="2251538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653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340864"/>
            <a:ext cx="63093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73 automated tests, full performance reports — everything on this slide is measured, not projected.</a:t>
            </a:r>
          </a:p>
        </p:txBody>
      </p:sp>
      <p:pic>
        <p:nvPicPr>
          <p:cNvPr id="15365" name="Picture 15364" descr="gui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47088"/>
            <a:ext cx="4892040" cy="275177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8463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console, live: locked on the beacon at 175 µrad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1.1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98.8 %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903720" y="5257800"/>
            <a:ext cx="4892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Median pointing error </a:t>
            </a:r>
            <a:r>
              <a:rPr sz="1300" b="1" i="0">
                <a:solidFill>
                  <a:srgbClr val="0E7C99"/>
                </a:solidFill>
                <a:latin typeface="Arial"/>
              </a:rPr>
              <a:t>207 µrad</a:t>
            </a:r>
            <a:r>
              <a:rPr sz="1200" b="0" i="0">
                <a:solidFill>
                  <a:srgbClr val="0B2545"/>
                </a:solidFill>
                <a:latin typeface="Arial"/>
              </a:rPr>
              <a:t> — beacon kept inside the field of view </a:t>
            </a:r>
            <a:r>
              <a:rPr sz="13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200" b="0" i="0">
                <a:solidFill>
                  <a:srgbClr val="0B2545"/>
                </a:solidFill>
                <a:latin typeface="Arial"/>
              </a:rPr>
              <a:t> of the 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645920"/>
            <a:ext cx="114300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B2545"/>
                </a:solidFill>
                <a:latin typeface="Arial"/>
              </a:rPr>
              <a:t>Stack: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Python 3.11 · NumPy · OpenCV · PySide6 + pyqtgraph GUI · SGP4 real orbits · from-scratch NumPy neural net · PyInstaller app · pytest (</a:t>
            </a:r>
            <a:r>
              <a:rPr sz="1250" b="1" i="0">
                <a:solidFill>
                  <a:srgbClr val="1F8A5B"/>
                </a:solidFill>
                <a:latin typeface="Arial"/>
              </a:rPr>
              <a:t>73 tests</a:t>
            </a:r>
            <a:r>
              <a:rPr sz="1250" b="0" i="0">
                <a:solidFill>
                  <a:srgbClr val="0B2545"/>
                </a:solidFill>
                <a:latin typeface="Arial"/>
              </a:rPr>
              <a:t>) · GitHub CI</a:t>
            </a:r>
          </a:p>
          <a:p>
            <a:r>
              <a:rPr sz="1100" b="0" i="1">
                <a:solidFill>
                  <a:srgbClr val="5A6472"/>
                </a:solidFill>
                <a:latin typeface="Arial"/>
              </a:rPr>
              <a:t>100% open source — zero licensing cost, runs on any laptop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sky · stars · clutter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21408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263139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DETECT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top-hat + matched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filter + CFAR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00500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142231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IDENTIFY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blink signature gate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AI verifier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879592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021323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ESTIMATE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IMM Kalman filter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position + velocity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758683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7900415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feed-forward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637776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9779507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GIMBAL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slew limits · latency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encoder noise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84048" y="3529584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closed loop at the camera’s 30 frames per second — real time on a normal laptop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84048" y="38587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84048" y="4151376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26" name="Right Arrow 17425"/>
          <p:cNvSpPr/>
          <p:nvPr/>
        </p:nvSpPr>
        <p:spPr>
          <a:xfrm>
            <a:off x="1709928" y="4315968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1865376" y="4151376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3191256" y="4315968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3346704" y="4151376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4672584" y="4315968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4828032" y="4151376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32" name="Right Arrow 17431"/>
          <p:cNvSpPr/>
          <p:nvPr/>
        </p:nvSpPr>
        <p:spPr>
          <a:xfrm>
            <a:off x="6153912" y="4315968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6309360" y="4151376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7882127" y="60533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 i="0">
                <a:solidFill>
                  <a:srgbClr val="0B2545"/>
                </a:solidFill>
                <a:latin typeface="Arial"/>
              </a:rPr>
              <a:t/>
            </a:r>
            <a:r>
              <a:rPr sz="950" b="0" i="0">
                <a:solidFill>
                  <a:srgbClr val="0B2545"/>
                </a:solidFill>
                <a:latin typeface="Arial"/>
              </a:rPr>
              <a:t>Search → lock → coast → auto-recovery, even 5° off-target among decoys.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7882127" y="389534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Inside one 33 ms cycle — measured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882127" y="4206240"/>
            <a:ext cx="868680" cy="384048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IN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8869680" y="4270248"/>
            <a:ext cx="2971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0B2545"/>
                </a:solidFill>
                <a:latin typeface="Arial"/>
              </a:rPr>
              <a:t>1 frame · 307,200 px (9.2 MPx/s at 30 fps)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882127" y="4681727"/>
            <a:ext cx="868680" cy="384048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SCREEN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8869680" y="4745736"/>
            <a:ext cx="2971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0B2545"/>
                </a:solidFill>
                <a:latin typeface="Arial"/>
              </a:rPr>
              <a:t>≈ 5–6 candidate detections pass CFAR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7882127" y="5157215"/>
            <a:ext cx="868680" cy="384048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8869680" y="5221223"/>
            <a:ext cx="2971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0B2545"/>
                </a:solidFill>
                <a:latin typeface="Arial"/>
              </a:rPr>
              <a:t>1 beacon confirmed · decoys rejected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7882127" y="5632703"/>
            <a:ext cx="868680" cy="384048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OUT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8869680" y="5696711"/>
            <a:ext cx="2971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0B2545"/>
                </a:solidFill>
                <a:latin typeface="Arial"/>
              </a:rPr>
              <a:t>1 pointing command · 14 ms used of 33</a:t>
            </a:r>
          </a:p>
        </p:txBody>
      </p:sp>
      <p:pic>
        <p:nvPicPr>
          <p:cNvPr id="17444" name="Picture 17443" descr="chart_conver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4700016"/>
            <a:ext cx="7223760" cy="1589227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Runs faster than real time on a normal laptop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adapts to manoeuvres in ~0.3 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0.53×-dim beacon under 1.74× turbulence still acquired in 2.8 s and held 91.7% lock.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r>
              <a:rPr sz="125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on a tracked ISS pass, coarse stage + modelled fine stage closes the optical link </a:t>
            </a:r>
            <a:r>
              <a:rPr sz="1400" b="1" i="0">
                <a:solidFill>
                  <a:srgbClr val="1F8A5B"/>
                </a:solidFill>
                <a:latin typeface="Arial"/>
              </a:rPr>
              <a:t>99.3%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of the time vs </a:t>
            </a:r>
            <a:r>
              <a:rPr sz="1400" b="1" i="0">
                <a:solidFill>
                  <a:srgbClr val="9C2E23"/>
                </a:solidFill>
                <a:latin typeface="Arial"/>
              </a:rPr>
              <a:t>14.7%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  </a:t>
            </a:r>
            <a:r>
              <a:rPr sz="1000" u="sng">
                <a:solidFill>
                  <a:srgbClr val="0E7C99"/>
                </a:solidFill>
                <a:latin typeface="Arial"/>
                <a:hlinkClick r:id="rId4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  </a:t>
            </a:r>
            <a:r>
              <a:rPr sz="1000" u="sng">
                <a:solidFill>
                  <a:srgbClr val="0E7C99"/>
                </a:solidFill>
                <a:latin typeface="Arial"/>
                <a:hlinkClick r:id="rId5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  </a:t>
            </a:r>
            <a:r>
              <a:rPr sz="1000" u="sng">
                <a:solidFill>
                  <a:srgbClr val="0E7C99"/>
                </a:solidFill>
                <a:latin typeface="Arial"/>
                <a:hlinkClick r:id="rId6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  </a:t>
            </a:r>
            <a:r>
              <a:rPr sz="1000" u="sng">
                <a:solidFill>
                  <a:srgbClr val="0E7C99"/>
                </a:solidFill>
                <a:latin typeface="Arial"/>
                <a:hlinkClick r:id="rId7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  </a:t>
            </a:r>
            <a:r>
              <a:rPr sz="1000" u="sng">
                <a:solidFill>
                  <a:srgbClr val="0E7C99"/>
                </a:solidFill>
                <a:latin typeface="Arial"/>
                <a:hlinkClick r:id="rId8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  </a:t>
            </a:r>
            <a:r>
              <a:rPr sz="1000" u="sng">
                <a:solidFill>
                  <a:srgbClr val="0E7C99"/>
                </a:solidFill>
                <a:latin typeface="Arial"/>
                <a:hlinkClick r:id="rId9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  </a:t>
            </a:r>
            <a:r>
              <a:rPr sz="1000" u="sng">
                <a:solidFill>
                  <a:srgbClr val="0E7C99"/>
                </a:solidFill>
                <a:latin typeface="Arial"/>
                <a:hlinkClick r:id="rId10"/>
              </a:rPr>
              <a:t>[link]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u="sng">
                <a:solidFill>
                  <a:srgbClr val="0E7C99"/>
                </a:solidFill>
                <a:latin typeface="Arial"/>
                <a:hlinkClick r:id="rId11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55080" y="420624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ZeroDrift — SIH 2026 Idea Submission (PS 26169, ISRO)</dc:title>
  <dc:subject>AI-Based Virtual Camera Tracking for Coarse Alignment of Mobile FSOC Terminals</dc:subject>
  <dc:creator>Team ZeroDrift, Jabalpur Engineering College</dc:creator>
  <cp:keywords>SIH 2026, PS 26169, ISRO, FSOC, ZeroDrift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